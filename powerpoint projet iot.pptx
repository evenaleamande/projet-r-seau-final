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4663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DO"/>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0EC"/>
        </a:solidFill>
        <a:effectLst/>
      </p:bgPr>
    </p:bg>
    <p:spTree>
      <p:nvGrpSpPr>
        <p:cNvPr id="1" name=""/>
        <p:cNvGrpSpPr/>
        <p:nvPr/>
      </p:nvGrpSpPr>
      <p:grpSpPr>
        <a:xfrm>
          <a:off x="0" y="0"/>
          <a:ext cx="0" cy="0"/>
          <a:chOff x="0" y="0"/>
          <a:chExt cx="0" cy="0"/>
        </a:xfrm>
      </p:grpSpPr>
      <p:sp>
        <p:nvSpPr>
          <p:cNvPr id="18" name="Ellipse 17">
            <a:extLst>
              <a:ext uri="{FF2B5EF4-FFF2-40B4-BE49-F238E27FC236}">
                <a16:creationId xmlns:a16="http://schemas.microsoft.com/office/drawing/2014/main" id="{580152D0-1E90-1932-279F-2B0BB09DC401}"/>
              </a:ext>
            </a:extLst>
          </p:cNvPr>
          <p:cNvSpPr/>
          <p:nvPr/>
        </p:nvSpPr>
        <p:spPr>
          <a:xfrm>
            <a:off x="2749434" y="1874520"/>
            <a:ext cx="3963093" cy="4218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4" name="Text 2"/>
          <p:cNvSpPr/>
          <p:nvPr/>
        </p:nvSpPr>
        <p:spPr>
          <a:xfrm>
            <a:off x="182880" y="91440"/>
            <a:ext cx="8778240" cy="914400"/>
          </a:xfrm>
          <a:prstGeom prst="rect">
            <a:avLst/>
          </a:prstGeom>
          <a:noFill/>
          <a:ln/>
        </p:spPr>
        <p:txBody>
          <a:bodyPr wrap="square" rtlCol="0" anchor="ctr"/>
          <a:lstStyle/>
          <a:p>
            <a:pPr marL="0" indent="0" algn="ctr">
              <a:buNone/>
            </a:pPr>
            <a:r>
              <a:rPr lang="en-US" sz="2400" b="1" dirty="0">
                <a:solidFill>
                  <a:srgbClr val="1A1A1A"/>
                </a:solidFill>
                <a:latin typeface="Calibri" pitchFamily="34" charset="0"/>
                <a:ea typeface="Calibri" pitchFamily="34" charset="-122"/>
                <a:cs typeface="Calibri" pitchFamily="34" charset="-120"/>
              </a:rPr>
              <a:t>FACULTÉ DES SCIENCES ET DES TECHNOLOGIES (FST)</a:t>
            </a:r>
            <a:endParaRPr lang="en-US" sz="2400" dirty="0"/>
          </a:p>
        </p:txBody>
      </p:sp>
      <p:sp>
        <p:nvSpPr>
          <p:cNvPr id="7" name="Text 5"/>
          <p:cNvSpPr/>
          <p:nvPr/>
        </p:nvSpPr>
        <p:spPr>
          <a:xfrm>
            <a:off x="608907" y="1399033"/>
            <a:ext cx="3963093" cy="566928"/>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Par: Evena </a:t>
            </a:r>
            <a:r>
              <a:rPr lang="en-US" sz="1400" b="1" dirty="0" err="1">
                <a:solidFill>
                  <a:srgbClr val="1A1A1A"/>
                </a:solidFill>
                <a:latin typeface="Calibri" pitchFamily="34" charset="0"/>
                <a:ea typeface="Calibri" pitchFamily="34" charset="-122"/>
                <a:cs typeface="Calibri" pitchFamily="34" charset="-120"/>
              </a:rPr>
              <a:t>Leamande</a:t>
            </a:r>
            <a:endParaRPr lang="en-US" sz="1400" b="1" dirty="0">
              <a:solidFill>
                <a:srgbClr val="1A1A1A"/>
              </a:solidFill>
              <a:latin typeface="Calibri" pitchFamily="34" charset="0"/>
              <a:ea typeface="Calibri" pitchFamily="34" charset="-122"/>
              <a:cs typeface="Calibri" pitchFamily="34" charset="-120"/>
            </a:endParaRPr>
          </a:p>
          <a:p>
            <a:pPr marL="0" indent="0">
              <a:buNone/>
            </a:pPr>
            <a:r>
              <a:rPr lang="en-US" sz="1400" b="1" dirty="0">
                <a:solidFill>
                  <a:srgbClr val="1A1A1A"/>
                </a:solidFill>
                <a:latin typeface="Calibri" pitchFamily="34" charset="0"/>
                <a:cs typeface="Calibri" pitchFamily="34" charset="-120"/>
              </a:rPr>
              <a:t>       Christian Francois       </a:t>
            </a:r>
          </a:p>
          <a:p>
            <a:pPr marL="0" indent="0">
              <a:buNone/>
            </a:pPr>
            <a:r>
              <a:rPr lang="en-US" sz="1400" b="1" dirty="0">
                <a:solidFill>
                  <a:srgbClr val="1A1A1A"/>
                </a:solidFill>
                <a:latin typeface="Calibri" pitchFamily="34" charset="0"/>
                <a:cs typeface="Calibri" pitchFamily="34" charset="-120"/>
              </a:rPr>
              <a:t> </a:t>
            </a:r>
            <a:r>
              <a:rPr lang="en-US" sz="1400" b="1" dirty="0" err="1">
                <a:solidFill>
                  <a:srgbClr val="1A1A1A"/>
                </a:solidFill>
                <a:latin typeface="Calibri" pitchFamily="34" charset="0"/>
                <a:cs typeface="Calibri" pitchFamily="34" charset="-120"/>
              </a:rPr>
              <a:t>coffy</a:t>
            </a:r>
            <a:r>
              <a:rPr lang="en-US" sz="1400" b="1" dirty="0">
                <a:solidFill>
                  <a:srgbClr val="1A1A1A"/>
                </a:solidFill>
                <a:latin typeface="Calibri" pitchFamily="34" charset="0"/>
                <a:cs typeface="Calibri" pitchFamily="34" charset="-120"/>
              </a:rPr>
              <a:t> innocent </a:t>
            </a:r>
            <a:r>
              <a:rPr lang="en-US" sz="1400" b="1" dirty="0" err="1">
                <a:solidFill>
                  <a:srgbClr val="1A1A1A"/>
                </a:solidFill>
                <a:latin typeface="Calibri" pitchFamily="34" charset="0"/>
                <a:cs typeface="Calibri" pitchFamily="34" charset="-120"/>
              </a:rPr>
              <a:t>manahenn</a:t>
            </a:r>
            <a:endParaRPr lang="en-US" sz="1400" dirty="0"/>
          </a:p>
        </p:txBody>
      </p:sp>
      <p:sp>
        <p:nvSpPr>
          <p:cNvPr id="10" name="Text 8"/>
          <p:cNvSpPr/>
          <p:nvPr/>
        </p:nvSpPr>
        <p:spPr>
          <a:xfrm>
            <a:off x="3182112" y="1371600"/>
            <a:ext cx="5596128" cy="502920"/>
          </a:xfrm>
          <a:prstGeom prst="rect">
            <a:avLst/>
          </a:prstGeom>
          <a:noFill/>
          <a:ln/>
        </p:spPr>
        <p:txBody>
          <a:bodyPr wrap="square" rtlCol="0" anchor="ctr"/>
          <a:lstStyle/>
          <a:p>
            <a:pPr marL="0" indent="0">
              <a:buNone/>
            </a:pPr>
            <a:endParaRPr lang="en-US" sz="2600" dirty="0"/>
          </a:p>
        </p:txBody>
      </p:sp>
      <p:sp>
        <p:nvSpPr>
          <p:cNvPr id="11" name="Text 9"/>
          <p:cNvSpPr/>
          <p:nvPr/>
        </p:nvSpPr>
        <p:spPr>
          <a:xfrm>
            <a:off x="2834640" y="1938528"/>
            <a:ext cx="5943600" cy="1005840"/>
          </a:xfrm>
          <a:prstGeom prst="rect">
            <a:avLst/>
          </a:prstGeom>
          <a:noFill/>
          <a:ln/>
        </p:spPr>
        <p:txBody>
          <a:bodyPr wrap="square" rtlCol="0" anchor="ctr"/>
          <a:lstStyle/>
          <a:p>
            <a:pPr marL="0" indent="0">
              <a:buNone/>
            </a:pPr>
            <a:r>
              <a:rPr lang="en-US" sz="1700" dirty="0">
                <a:solidFill>
                  <a:srgbClr val="1A1A1A"/>
                </a:solidFill>
                <a:latin typeface="Calibri" pitchFamily="34" charset="0"/>
                <a:ea typeface="Calibri" pitchFamily="34" charset="-122"/>
                <a:cs typeface="Calibri" pitchFamily="34" charset="-120"/>
              </a:rPr>
              <a:t>Conception d’un reseau IOT sécurisé.</a:t>
            </a:r>
          </a:p>
          <a:p>
            <a:pPr marL="0" indent="0">
              <a:buNone/>
            </a:pPr>
            <a:endParaRPr lang="en-US" sz="1700" dirty="0">
              <a:solidFill>
                <a:srgbClr val="1A1A1A"/>
              </a:solidFill>
              <a:latin typeface="Calibri" pitchFamily="34" charset="0"/>
              <a:cs typeface="Calibri" pitchFamily="34" charset="-120"/>
            </a:endParaRPr>
          </a:p>
          <a:p>
            <a:pPr marL="0" indent="0">
              <a:buNone/>
            </a:pPr>
            <a:endParaRPr lang="en-US" sz="1700" dirty="0">
              <a:solidFill>
                <a:srgbClr val="1A1A1A"/>
              </a:solidFill>
              <a:latin typeface="Calibri" pitchFamily="34" charset="0"/>
              <a:cs typeface="Calibri" pitchFamily="34" charset="-120"/>
            </a:endParaRPr>
          </a:p>
          <a:p>
            <a:pPr marL="0" indent="0">
              <a:buNone/>
            </a:pPr>
            <a:endParaRPr lang="en-US" sz="1700" dirty="0"/>
          </a:p>
        </p:txBody>
      </p:sp>
      <p:sp>
        <p:nvSpPr>
          <p:cNvPr id="13" name="Shape 11"/>
          <p:cNvSpPr/>
          <p:nvPr/>
        </p:nvSpPr>
        <p:spPr>
          <a:xfrm>
            <a:off x="0" y="4800600"/>
            <a:ext cx="9144000" cy="342900"/>
          </a:xfrm>
          <a:prstGeom prst="rect">
            <a:avLst/>
          </a:prstGeom>
          <a:noFill/>
          <a:ln/>
        </p:spPr>
        <p:txBody>
          <a:bodyPr/>
          <a:lstStyle/>
          <a:p>
            <a:endParaRPr lang="es-DO"/>
          </a:p>
        </p:txBody>
      </p:sp>
      <p:sp>
        <p:nvSpPr>
          <p:cNvPr id="14" name="Text 12"/>
          <p:cNvSpPr/>
          <p:nvPr/>
        </p:nvSpPr>
        <p:spPr>
          <a:xfrm>
            <a:off x="182880" y="4818888"/>
            <a:ext cx="2286000" cy="30175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15" name="Text 13"/>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a:t>
            </a:r>
            <a:endParaRPr lang="en-US" sz="1000" dirty="0"/>
          </a:p>
        </p:txBody>
      </p:sp>
      <p:sp>
        <p:nvSpPr>
          <p:cNvPr id="16" name="Rectangle 15">
            <a:extLst>
              <a:ext uri="{FF2B5EF4-FFF2-40B4-BE49-F238E27FC236}">
                <a16:creationId xmlns:a16="http://schemas.microsoft.com/office/drawing/2014/main" id="{0E6BE2B2-12F5-2303-0B43-7785600CF0A9}"/>
              </a:ext>
            </a:extLst>
          </p:cNvPr>
          <p:cNvSpPr/>
          <p:nvPr/>
        </p:nvSpPr>
        <p:spPr>
          <a:xfrm>
            <a:off x="1" y="0"/>
            <a:ext cx="426026" cy="512064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pic>
        <p:nvPicPr>
          <p:cNvPr id="17" name="Image 16">
            <a:extLst>
              <a:ext uri="{FF2B5EF4-FFF2-40B4-BE49-F238E27FC236}">
                <a16:creationId xmlns:a16="http://schemas.microsoft.com/office/drawing/2014/main" id="{412A9649-61F5-9C71-EA61-C80C358992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28937" y="2752345"/>
            <a:ext cx="3690072" cy="19019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3" name="Croix 22">
            <a:extLst>
              <a:ext uri="{FF2B5EF4-FFF2-40B4-BE49-F238E27FC236}">
                <a16:creationId xmlns:a16="http://schemas.microsoft.com/office/drawing/2014/main" id="{A6D6A15F-4484-D478-93B3-DD4E4D4C5B14}"/>
              </a:ext>
            </a:extLst>
          </p:cNvPr>
          <p:cNvSpPr/>
          <p:nvPr/>
        </p:nvSpPr>
        <p:spPr>
          <a:xfrm>
            <a:off x="2213264" y="270164"/>
            <a:ext cx="5351318" cy="689956"/>
          </a:xfrm>
          <a:prstGeom prst="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Introduction</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457200" y="1325880"/>
            <a:ext cx="8229600" cy="2194560"/>
          </a:xfrm>
          <a:prstGeom prst="rect">
            <a:avLst/>
          </a:prstGeom>
          <a:noFill/>
          <a:ln/>
        </p:spPr>
        <p:txBody>
          <a:bodyPr wrap="square" rtlCol="0" anchor="t"/>
          <a:lstStyle/>
          <a:p>
            <a:pPr marL="0" indent="0" algn="just">
              <a:lnSpc>
                <a:spcPct val="130000"/>
              </a:lnSpc>
              <a:buNone/>
            </a:pPr>
            <a:r>
              <a:rPr lang="en-US" sz="1500" dirty="0">
                <a:solidFill>
                  <a:srgbClr val="1A1A1A"/>
                </a:solidFill>
                <a:latin typeface="Calibri" pitchFamily="34" charset="0"/>
                <a:ea typeface="Calibri" pitchFamily="34" charset="-122"/>
                <a:cs typeface="Calibri" pitchFamily="34" charset="-120"/>
              </a:rPr>
              <a:t>Dans un environnement hospitalier, la surveillance et l'assistance des patients handicapés représentent un défi permanent. Les systèmes traditionnels de surveillance manquent d'automatisation et nécessitent une présence humaine constante, ce qui peut entraîner des délais d'intervention critiques.</a:t>
            </a:r>
            <a:endParaRPr lang="en-US" sz="1500" dirty="0"/>
          </a:p>
          <a:p>
            <a:pPr marL="0" indent="0" algn="just">
              <a:lnSpc>
                <a:spcPct val="130000"/>
              </a:lnSpc>
              <a:buNone/>
            </a:pPr>
            <a:endParaRPr lang="en-US" sz="1500" dirty="0"/>
          </a:p>
          <a:p>
            <a:pPr marL="0" indent="0" algn="just">
              <a:lnSpc>
                <a:spcPct val="130000"/>
              </a:lnSpc>
              <a:buNone/>
            </a:pPr>
            <a:r>
              <a:rPr lang="en-US" sz="1500" dirty="0">
                <a:solidFill>
                  <a:srgbClr val="1A1A1A"/>
                </a:solidFill>
                <a:latin typeface="Calibri" pitchFamily="34" charset="0"/>
                <a:ea typeface="Calibri" pitchFamily="34" charset="-122"/>
                <a:cs typeface="Calibri" pitchFamily="34" charset="-120"/>
              </a:rPr>
              <a:t>Ce projet propose une solution IoT intelligente permettant au personnel médical (contrôleur) de surveiller à distance une chambre de patient handicapé et d'intervenir automatiquement en cas d'incident, grâce à un réseau connecté simulé dans Cisco Packet Tracer.</a:t>
            </a:r>
            <a:endParaRPr lang="en-US" sz="1500" dirty="0"/>
          </a:p>
        </p:txBody>
      </p:sp>
      <p:sp>
        <p:nvSpPr>
          <p:cNvPr id="14" name="Text 12"/>
          <p:cNvSpPr/>
          <p:nvPr/>
        </p:nvSpPr>
        <p:spPr>
          <a:xfrm>
            <a:off x="457200" y="4050792"/>
            <a:ext cx="2560320" cy="411480"/>
          </a:xfrm>
          <a:prstGeom prst="rect">
            <a:avLst/>
          </a:prstGeom>
          <a:noFill/>
          <a:ln/>
        </p:spPr>
        <p:txBody>
          <a:bodyPr wrap="square" rtlCol="0" anchor="ctr"/>
          <a:lstStyle/>
          <a:p>
            <a:pPr marL="0" indent="0" algn="ctr">
              <a:buNone/>
            </a:pPr>
            <a:endParaRPr lang="en-US" sz="1150" dirty="0"/>
          </a:p>
        </p:txBody>
      </p:sp>
      <p:sp>
        <p:nvSpPr>
          <p:cNvPr id="17" name="Text 15"/>
          <p:cNvSpPr/>
          <p:nvPr/>
        </p:nvSpPr>
        <p:spPr>
          <a:xfrm>
            <a:off x="3291840" y="3685032"/>
            <a:ext cx="2560320" cy="347472"/>
          </a:xfrm>
          <a:prstGeom prst="rect">
            <a:avLst/>
          </a:prstGeom>
          <a:noFill/>
          <a:ln/>
        </p:spPr>
        <p:txBody>
          <a:bodyPr wrap="square" rtlCol="0" anchor="ctr"/>
          <a:lstStyle/>
          <a:p>
            <a:pPr marL="0" indent="0" algn="ctr">
              <a:buNone/>
            </a:pPr>
            <a:endParaRPr lang="en-US" sz="1300" dirty="0"/>
          </a:p>
        </p:txBody>
      </p:sp>
      <p:sp>
        <p:nvSpPr>
          <p:cNvPr id="18" name="Text 16"/>
          <p:cNvSpPr/>
          <p:nvPr/>
        </p:nvSpPr>
        <p:spPr>
          <a:xfrm>
            <a:off x="3383280" y="4050792"/>
            <a:ext cx="2560320" cy="411480"/>
          </a:xfrm>
          <a:prstGeom prst="rect">
            <a:avLst/>
          </a:prstGeom>
          <a:noFill/>
          <a:ln/>
        </p:spPr>
        <p:txBody>
          <a:bodyPr wrap="square" rtlCol="0" anchor="ctr"/>
          <a:lstStyle/>
          <a:p>
            <a:pPr marL="0" indent="0" algn="ctr">
              <a:buNone/>
            </a:pPr>
            <a:endParaRPr lang="en-US" sz="1150" dirty="0"/>
          </a:p>
        </p:txBody>
      </p:sp>
      <p:sp>
        <p:nvSpPr>
          <p:cNvPr id="21" name="Text 19"/>
          <p:cNvSpPr/>
          <p:nvPr/>
        </p:nvSpPr>
        <p:spPr>
          <a:xfrm>
            <a:off x="6309360" y="3685032"/>
            <a:ext cx="2560320" cy="347472"/>
          </a:xfrm>
          <a:prstGeom prst="rect">
            <a:avLst/>
          </a:prstGeom>
          <a:noFill/>
          <a:ln/>
        </p:spPr>
        <p:txBody>
          <a:bodyPr wrap="square" rtlCol="0" anchor="ctr"/>
          <a:lstStyle/>
          <a:p>
            <a:pPr marL="0" indent="0" algn="ctr">
              <a:buNone/>
            </a:pPr>
            <a:endParaRPr lang="en-US" sz="1300" dirty="0"/>
          </a:p>
        </p:txBody>
      </p:sp>
      <p:sp>
        <p:nvSpPr>
          <p:cNvPr id="22" name="Text 20"/>
          <p:cNvSpPr/>
          <p:nvPr/>
        </p:nvSpPr>
        <p:spPr>
          <a:xfrm>
            <a:off x="6309360" y="4050792"/>
            <a:ext cx="2560320" cy="411480"/>
          </a:xfrm>
          <a:prstGeom prst="rect">
            <a:avLst/>
          </a:prstGeom>
          <a:noFill/>
          <a:ln/>
        </p:spPr>
        <p:txBody>
          <a:bodyPr wrap="square" rtlCol="0" anchor="ctr"/>
          <a:lstStyle/>
          <a:p>
            <a:pPr marL="0" indent="0" algn="ctr">
              <a:buNone/>
            </a:pP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9" name="Pentagone 28">
            <a:extLst>
              <a:ext uri="{FF2B5EF4-FFF2-40B4-BE49-F238E27FC236}">
                <a16:creationId xmlns:a16="http://schemas.microsoft.com/office/drawing/2014/main" id="{C6CA248B-6D1A-7F7A-1659-0558838ACA75}"/>
              </a:ext>
            </a:extLst>
          </p:cNvPr>
          <p:cNvSpPr/>
          <p:nvPr/>
        </p:nvSpPr>
        <p:spPr>
          <a:xfrm>
            <a:off x="2556164" y="166255"/>
            <a:ext cx="4374572" cy="551549"/>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Problématique</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3</a:t>
            </a:r>
            <a:endParaRPr lang="en-US" sz="1000" dirty="0"/>
          </a:p>
        </p:txBody>
      </p:sp>
      <p:sp>
        <p:nvSpPr>
          <p:cNvPr id="10" name="Text 8"/>
          <p:cNvSpPr/>
          <p:nvPr/>
        </p:nvSpPr>
        <p:spPr>
          <a:xfrm>
            <a:off x="457200" y="1298448"/>
            <a:ext cx="8229600" cy="1828800"/>
          </a:xfrm>
          <a:prstGeom prst="rect">
            <a:avLst/>
          </a:prstGeom>
          <a:noFill/>
          <a:ln/>
        </p:spPr>
        <p:txBody>
          <a:bodyPr wrap="square" rtlCol="0" anchor="t"/>
          <a:lstStyle/>
          <a:p>
            <a:pPr marL="0" indent="0" algn="just">
              <a:lnSpc>
                <a:spcPct val="130000"/>
              </a:lnSpc>
              <a:buNone/>
            </a:pPr>
            <a:r>
              <a:rPr lang="en-US" sz="1450" dirty="0">
                <a:solidFill>
                  <a:srgbClr val="1A1A1A"/>
                </a:solidFill>
                <a:latin typeface="Calibri" pitchFamily="34" charset="0"/>
                <a:ea typeface="Calibri" pitchFamily="34" charset="-122"/>
                <a:cs typeface="Calibri" pitchFamily="34" charset="-120"/>
              </a:rPr>
              <a:t>Les patients hospitalisés en chambre handicapée nécessitent une surveillance permanente. Un incident (chute, intrusion, malaise) peut survenir à tout moment, même la nuit, sans qu'aucun soignant ne soit présent dans la chambre.</a:t>
            </a:r>
            <a:endParaRPr lang="en-US" sz="1450" dirty="0"/>
          </a:p>
          <a:p>
            <a:pPr marL="0" indent="0" algn="just">
              <a:lnSpc>
                <a:spcPct val="130000"/>
              </a:lnSpc>
              <a:buNone/>
            </a:pPr>
            <a:endParaRPr lang="en-US" sz="1450" dirty="0"/>
          </a:p>
          <a:p>
            <a:pPr marL="0" indent="0" algn="just">
              <a:lnSpc>
                <a:spcPct val="130000"/>
              </a:lnSpc>
              <a:buNone/>
            </a:pPr>
            <a:r>
              <a:rPr lang="en-US" sz="1450" dirty="0">
                <a:solidFill>
                  <a:srgbClr val="1A1A1A"/>
                </a:solidFill>
                <a:latin typeface="Calibri" pitchFamily="34" charset="0"/>
                <a:ea typeface="Calibri" pitchFamily="34" charset="-122"/>
                <a:cs typeface="Calibri" pitchFamily="34" charset="-120"/>
              </a:rPr>
              <a:t>Comment mettre en place un système intelligent capable de détecter automatiquement tout mouvement dans la chambre, d'alerter le personnel médical et de déclencher des actions de sécurité (alarme, caméra, lumière, fenêtre) sans intervention manuelle ?</a:t>
            </a:r>
            <a:endParaRPr lang="en-US" sz="1450" dirty="0"/>
          </a:p>
        </p:txBody>
      </p:sp>
      <p:sp>
        <p:nvSpPr>
          <p:cNvPr id="13" name="Text 11"/>
          <p:cNvSpPr/>
          <p:nvPr/>
        </p:nvSpPr>
        <p:spPr>
          <a:xfrm>
            <a:off x="502920" y="3300984"/>
            <a:ext cx="3931920" cy="256032"/>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Détection fiable</a:t>
            </a:r>
            <a:endParaRPr lang="en-US" sz="1300" dirty="0"/>
          </a:p>
        </p:txBody>
      </p:sp>
      <p:sp>
        <p:nvSpPr>
          <p:cNvPr id="14" name="Text 12"/>
          <p:cNvSpPr/>
          <p:nvPr/>
        </p:nvSpPr>
        <p:spPr>
          <a:xfrm>
            <a:off x="502920" y="3575304"/>
            <a:ext cx="3931920" cy="38404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Identifier tout mouvement ou intrusion dans la chambre du patient en temps réel.</a:t>
            </a:r>
            <a:endParaRPr lang="en-US" sz="1150" dirty="0"/>
          </a:p>
        </p:txBody>
      </p:sp>
      <p:sp>
        <p:nvSpPr>
          <p:cNvPr id="17" name="Text 15"/>
          <p:cNvSpPr/>
          <p:nvPr/>
        </p:nvSpPr>
        <p:spPr>
          <a:xfrm>
            <a:off x="4892040" y="3300984"/>
            <a:ext cx="3931920" cy="256032"/>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Alerte immédiate</a:t>
            </a:r>
            <a:endParaRPr lang="en-US" sz="1300" dirty="0"/>
          </a:p>
        </p:txBody>
      </p:sp>
      <p:sp>
        <p:nvSpPr>
          <p:cNvPr id="18" name="Text 16"/>
          <p:cNvSpPr/>
          <p:nvPr/>
        </p:nvSpPr>
        <p:spPr>
          <a:xfrm>
            <a:off x="4892040" y="3575304"/>
            <a:ext cx="3931920" cy="38404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Notifier automatiquement le poste de contrôle dès qu'un incident est détecté.</a:t>
            </a:r>
            <a:endParaRPr lang="en-US" sz="1150" dirty="0"/>
          </a:p>
        </p:txBody>
      </p:sp>
      <p:sp>
        <p:nvSpPr>
          <p:cNvPr id="21" name="Text 19"/>
          <p:cNvSpPr/>
          <p:nvPr/>
        </p:nvSpPr>
        <p:spPr>
          <a:xfrm>
            <a:off x="502920" y="4169664"/>
            <a:ext cx="3931920" cy="256032"/>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Actions </a:t>
            </a:r>
            <a:r>
              <a:rPr lang="en-US" sz="1300" b="1" dirty="0" err="1">
                <a:latin typeface="Calibri" pitchFamily="34" charset="0"/>
                <a:ea typeface="Calibri" pitchFamily="34" charset="-122"/>
                <a:cs typeface="Calibri" pitchFamily="34" charset="-120"/>
              </a:rPr>
              <a:t>automatiques</a:t>
            </a:r>
            <a:endParaRPr lang="en-US" sz="1300" dirty="0"/>
          </a:p>
        </p:txBody>
      </p:sp>
      <p:sp>
        <p:nvSpPr>
          <p:cNvPr id="22" name="Text 20"/>
          <p:cNvSpPr/>
          <p:nvPr/>
        </p:nvSpPr>
        <p:spPr>
          <a:xfrm>
            <a:off x="502920" y="4443984"/>
            <a:ext cx="3931920" cy="38404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Allumer la lumière, ouvrir la fenêtre et déclencher l'alarme sans intervention humaine.</a:t>
            </a:r>
            <a:endParaRPr lang="en-US" sz="1150" dirty="0"/>
          </a:p>
        </p:txBody>
      </p:sp>
      <p:sp>
        <p:nvSpPr>
          <p:cNvPr id="25" name="Text 23"/>
          <p:cNvSpPr/>
          <p:nvPr/>
        </p:nvSpPr>
        <p:spPr>
          <a:xfrm>
            <a:off x="4892040" y="4169664"/>
            <a:ext cx="3931920" cy="256032"/>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Réseau sécurisé</a:t>
            </a:r>
            <a:endParaRPr lang="en-US" sz="1300" dirty="0"/>
          </a:p>
        </p:txBody>
      </p:sp>
      <p:sp>
        <p:nvSpPr>
          <p:cNvPr id="26" name="Text 24"/>
          <p:cNvSpPr/>
          <p:nvPr/>
        </p:nvSpPr>
        <p:spPr>
          <a:xfrm>
            <a:off x="4892040" y="4443984"/>
            <a:ext cx="3931920" cy="38404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Assurer une communication fiable entre les deux zones via un réseau IP structuré.</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2C4B0"/>
          </a:solidFill>
          <a:ln/>
        </p:spPr>
        <p:txBody>
          <a:bodyPr/>
          <a:lstStyle/>
          <a:p>
            <a:endParaRPr lang="es-DO"/>
          </a:p>
        </p:txBody>
      </p:sp>
      <p:sp>
        <p:nvSpPr>
          <p:cNvPr id="3" name="Shape 1"/>
          <p:cNvSpPr/>
          <p:nvPr/>
        </p:nvSpPr>
        <p:spPr>
          <a:xfrm>
            <a:off x="0" y="0"/>
            <a:ext cx="9144000" cy="73152"/>
          </a:xfrm>
          <a:prstGeom prst="rect">
            <a:avLst/>
          </a:prstGeom>
          <a:solidFill>
            <a:srgbClr val="E07050"/>
          </a:solidFill>
          <a:ln/>
        </p:spPr>
        <p:txBody>
          <a:bodyPr/>
          <a:lstStyle/>
          <a:p>
            <a:endParaRPr lang="es-DO"/>
          </a:p>
        </p:txBody>
      </p:sp>
      <p:sp>
        <p:nvSpPr>
          <p:cNvPr id="4" name="Shape 2"/>
          <p:cNvSpPr/>
          <p:nvPr/>
        </p:nvSpPr>
        <p:spPr>
          <a:xfrm>
            <a:off x="0" y="1005840"/>
            <a:ext cx="9144000" cy="45720"/>
          </a:xfrm>
          <a:prstGeom prst="rect">
            <a:avLst/>
          </a:prstGeom>
          <a:solidFill>
            <a:srgbClr val="5A8FC0"/>
          </a:solidFill>
          <a:ln/>
        </p:spPr>
        <p:txBody>
          <a:bodyPr/>
          <a:lstStyle/>
          <a:p>
            <a:endParaRPr lang="es-DO"/>
          </a:p>
        </p:txBody>
      </p:sp>
      <p:sp>
        <p:nvSpPr>
          <p:cNvPr id="5" name="Shape 3"/>
          <p:cNvSpPr/>
          <p:nvPr/>
        </p:nvSpPr>
        <p:spPr>
          <a:xfrm>
            <a:off x="0" y="1051560"/>
            <a:ext cx="9144000" cy="27432"/>
          </a:xfrm>
          <a:prstGeom prst="rect">
            <a:avLst/>
          </a:prstGeom>
          <a:solidFill>
            <a:srgbClr val="E07050">
              <a:alpha val="60000"/>
            </a:srgbClr>
          </a:solidFill>
          <a:ln/>
        </p:spPr>
        <p:txBody>
          <a:bodyPr/>
          <a:lstStyle/>
          <a:p>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Objectifs du projet</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4</a:t>
            </a:r>
            <a:endParaRPr lang="en-US" sz="1000" dirty="0"/>
          </a:p>
        </p:txBody>
      </p:sp>
      <p:sp>
        <p:nvSpPr>
          <p:cNvPr id="10" name="Text 8"/>
          <p:cNvSpPr/>
          <p:nvPr/>
        </p:nvSpPr>
        <p:spPr>
          <a:xfrm>
            <a:off x="457200" y="1298448"/>
            <a:ext cx="8229600" cy="320040"/>
          </a:xfrm>
          <a:prstGeom prst="rect">
            <a:avLst/>
          </a:prstGeom>
          <a:noFill/>
          <a:ln/>
        </p:spPr>
        <p:txBody>
          <a:bodyPr wrap="square" rtlCol="0" anchor="ctr"/>
          <a:lstStyle/>
          <a:p>
            <a:pPr marL="0" indent="0">
              <a:buNone/>
            </a:pPr>
            <a:r>
              <a:rPr lang="en-US" sz="1500" b="1" dirty="0">
                <a:solidFill>
                  <a:srgbClr val="E07050"/>
                </a:solidFill>
                <a:latin typeface="Calibri" pitchFamily="34" charset="0"/>
                <a:ea typeface="Calibri" pitchFamily="34" charset="-122"/>
                <a:cs typeface="Calibri" pitchFamily="34" charset="-120"/>
              </a:rPr>
              <a:t>Objectif principal</a:t>
            </a:r>
            <a:endParaRPr lang="en-US" sz="1500" dirty="0"/>
          </a:p>
        </p:txBody>
      </p:sp>
      <p:sp>
        <p:nvSpPr>
          <p:cNvPr id="11" name="Text 9"/>
          <p:cNvSpPr/>
          <p:nvPr/>
        </p:nvSpPr>
        <p:spPr>
          <a:xfrm>
            <a:off x="457200" y="1627632"/>
            <a:ext cx="8229600" cy="640080"/>
          </a:xfrm>
          <a:prstGeom prst="rect">
            <a:avLst/>
          </a:prstGeom>
          <a:noFill/>
          <a:ln/>
        </p:spPr>
        <p:txBody>
          <a:bodyPr wrap="square" rtlCol="0" anchor="ctr"/>
          <a:lstStyle/>
          <a:p>
            <a:pPr marL="0" indent="0" algn="just">
              <a:buNone/>
            </a:pPr>
            <a:r>
              <a:rPr lang="en-US" sz="1400" dirty="0">
                <a:solidFill>
                  <a:srgbClr val="1A1A1A"/>
                </a:solidFill>
                <a:latin typeface="Calibri" pitchFamily="34" charset="0"/>
                <a:ea typeface="Calibri" pitchFamily="34" charset="-122"/>
                <a:cs typeface="Calibri" pitchFamily="34" charset="-120"/>
              </a:rPr>
              <a:t>Concevoir et simuler un système IoT hospitalier permettant la surveillance automatique des patients handicapés et l'intervention à distance du personnel medical.</a:t>
            </a:r>
            <a:endParaRPr lang="en-US" sz="1400" dirty="0"/>
          </a:p>
        </p:txBody>
      </p:sp>
      <p:sp>
        <p:nvSpPr>
          <p:cNvPr id="12" name="Text 10"/>
          <p:cNvSpPr/>
          <p:nvPr/>
        </p:nvSpPr>
        <p:spPr>
          <a:xfrm>
            <a:off x="457200" y="2304288"/>
            <a:ext cx="8229600" cy="320040"/>
          </a:xfrm>
          <a:prstGeom prst="rect">
            <a:avLst/>
          </a:prstGeom>
          <a:noFill/>
          <a:ln/>
        </p:spPr>
        <p:txBody>
          <a:bodyPr wrap="square" rtlCol="0" anchor="ctr"/>
          <a:lstStyle/>
          <a:p>
            <a:pPr marL="0" indent="0">
              <a:buNone/>
            </a:pPr>
            <a:endParaRPr lang="en-US" sz="1400" dirty="0"/>
          </a:p>
        </p:txBody>
      </p:sp>
      <p:sp>
        <p:nvSpPr>
          <p:cNvPr id="16" name="Text 14"/>
          <p:cNvSpPr/>
          <p:nvPr/>
        </p:nvSpPr>
        <p:spPr>
          <a:xfrm>
            <a:off x="429768" y="2862072"/>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7" name="Text 15"/>
          <p:cNvSpPr/>
          <p:nvPr/>
        </p:nvSpPr>
        <p:spPr>
          <a:xfrm>
            <a:off x="886968" y="2752344"/>
            <a:ext cx="3474720" cy="274320"/>
          </a:xfrm>
          <a:prstGeom prst="rect">
            <a:avLst/>
          </a:prstGeom>
          <a:noFill/>
          <a:ln/>
        </p:spPr>
        <p:txBody>
          <a:bodyPr wrap="square" rtlCol="0" anchor="ctr"/>
          <a:lstStyle/>
          <a:p>
            <a:pPr marL="0" indent="0">
              <a:buNone/>
            </a:pPr>
            <a:endParaRPr lang="en-US" sz="1200" dirty="0"/>
          </a:p>
        </p:txBody>
      </p:sp>
      <p:sp>
        <p:nvSpPr>
          <p:cNvPr id="18" name="Text 16"/>
          <p:cNvSpPr/>
          <p:nvPr/>
        </p:nvSpPr>
        <p:spPr>
          <a:xfrm>
            <a:off x="886968" y="3026664"/>
            <a:ext cx="3474720" cy="530352"/>
          </a:xfrm>
          <a:prstGeom prst="rect">
            <a:avLst/>
          </a:prstGeom>
          <a:noFill/>
          <a:ln/>
        </p:spPr>
        <p:txBody>
          <a:bodyPr wrap="square" rtlCol="0" anchor="ctr"/>
          <a:lstStyle/>
          <a:p>
            <a:pPr marL="0" indent="0">
              <a:buNone/>
            </a:pPr>
            <a:endParaRPr lang="en-US" sz="1100" dirty="0"/>
          </a:p>
        </p:txBody>
      </p:sp>
      <p:sp>
        <p:nvSpPr>
          <p:cNvPr id="22" name="Text 20"/>
          <p:cNvSpPr/>
          <p:nvPr/>
        </p:nvSpPr>
        <p:spPr>
          <a:xfrm>
            <a:off x="4818888" y="2862072"/>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cs typeface="Calibri" pitchFamily="34" charset="-120"/>
              </a:rPr>
              <a:t>=</a:t>
            </a:r>
            <a:endParaRPr lang="en-US" sz="1400" dirty="0"/>
          </a:p>
        </p:txBody>
      </p:sp>
      <p:sp>
        <p:nvSpPr>
          <p:cNvPr id="23" name="Text 21"/>
          <p:cNvSpPr/>
          <p:nvPr/>
        </p:nvSpPr>
        <p:spPr>
          <a:xfrm>
            <a:off x="5276088" y="2752344"/>
            <a:ext cx="3474720" cy="274320"/>
          </a:xfrm>
          <a:prstGeom prst="rect">
            <a:avLst/>
          </a:prstGeom>
          <a:noFill/>
          <a:ln/>
        </p:spPr>
        <p:txBody>
          <a:bodyPr wrap="square" rtlCol="0" anchor="ctr"/>
          <a:lstStyle/>
          <a:p>
            <a:pPr marL="0" indent="0">
              <a:buNone/>
            </a:pPr>
            <a:endParaRPr lang="en-US" sz="1200" dirty="0"/>
          </a:p>
        </p:txBody>
      </p:sp>
      <p:sp>
        <p:nvSpPr>
          <p:cNvPr id="24" name="Text 22"/>
          <p:cNvSpPr/>
          <p:nvPr/>
        </p:nvSpPr>
        <p:spPr>
          <a:xfrm>
            <a:off x="5276088" y="3026664"/>
            <a:ext cx="3474720" cy="530352"/>
          </a:xfrm>
          <a:prstGeom prst="rect">
            <a:avLst/>
          </a:prstGeom>
          <a:noFill/>
          <a:ln/>
        </p:spPr>
        <p:txBody>
          <a:bodyPr wrap="square" rtlCol="0" anchor="ctr"/>
          <a:lstStyle/>
          <a:p>
            <a:pPr marL="0" indent="0">
              <a:buNone/>
            </a:pPr>
            <a:endParaRPr lang="en-US" sz="1100" dirty="0"/>
          </a:p>
        </p:txBody>
      </p:sp>
      <p:sp>
        <p:nvSpPr>
          <p:cNvPr id="29" name="Text 27"/>
          <p:cNvSpPr/>
          <p:nvPr/>
        </p:nvSpPr>
        <p:spPr>
          <a:xfrm>
            <a:off x="886968" y="3776472"/>
            <a:ext cx="3474720" cy="274320"/>
          </a:xfrm>
          <a:prstGeom prst="rect">
            <a:avLst/>
          </a:prstGeom>
          <a:noFill/>
          <a:ln/>
        </p:spPr>
        <p:txBody>
          <a:bodyPr wrap="square" rtlCol="0" anchor="ctr"/>
          <a:lstStyle/>
          <a:p>
            <a:pPr marL="0" indent="0">
              <a:buNone/>
            </a:pPr>
            <a:endParaRPr lang="en-US" sz="1200" dirty="0"/>
          </a:p>
        </p:txBody>
      </p:sp>
      <p:sp>
        <p:nvSpPr>
          <p:cNvPr id="30" name="Text 28"/>
          <p:cNvSpPr/>
          <p:nvPr/>
        </p:nvSpPr>
        <p:spPr>
          <a:xfrm>
            <a:off x="886968" y="4050792"/>
            <a:ext cx="3474720" cy="53035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a:t>
            </a:r>
            <a:endParaRPr lang="en-US" sz="1100" dirty="0"/>
          </a:p>
        </p:txBody>
      </p:sp>
      <p:sp>
        <p:nvSpPr>
          <p:cNvPr id="34" name="Text 32"/>
          <p:cNvSpPr/>
          <p:nvPr/>
        </p:nvSpPr>
        <p:spPr>
          <a:xfrm>
            <a:off x="4818888" y="3886200"/>
            <a:ext cx="384048" cy="384048"/>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5" name="Text 33"/>
          <p:cNvSpPr/>
          <p:nvPr/>
        </p:nvSpPr>
        <p:spPr>
          <a:xfrm>
            <a:off x="5276088" y="3776472"/>
            <a:ext cx="3474720" cy="274320"/>
          </a:xfrm>
          <a:prstGeom prst="rect">
            <a:avLst/>
          </a:prstGeom>
          <a:noFill/>
          <a:ln/>
        </p:spPr>
        <p:txBody>
          <a:bodyPr wrap="square" rtlCol="0" anchor="ctr"/>
          <a:lstStyle/>
          <a:p>
            <a:pPr marL="0" indent="0">
              <a:buNone/>
            </a:pPr>
            <a:endParaRPr lang="en-US" sz="1200" dirty="0"/>
          </a:p>
        </p:txBody>
      </p:sp>
      <p:sp>
        <p:nvSpPr>
          <p:cNvPr id="36" name="Text 34"/>
          <p:cNvSpPr/>
          <p:nvPr/>
        </p:nvSpPr>
        <p:spPr>
          <a:xfrm>
            <a:off x="5276088" y="4050792"/>
            <a:ext cx="3474720" cy="530352"/>
          </a:xfrm>
          <a:prstGeom prst="rect">
            <a:avLst/>
          </a:prstGeom>
          <a:noFill/>
          <a:ln/>
        </p:spPr>
        <p:txBody>
          <a:bodyPr wrap="square" rtlCol="0" anchor="ctr"/>
          <a:lstStyle/>
          <a:p>
            <a:pPr marL="0" indent="0">
              <a:buNone/>
            </a:pPr>
            <a:endParaRPr lang="en-US" sz="1100" dirty="0"/>
          </a:p>
        </p:txBody>
      </p:sp>
      <p:pic>
        <p:nvPicPr>
          <p:cNvPr id="37" name="Image 36">
            <a:extLst>
              <a:ext uri="{FF2B5EF4-FFF2-40B4-BE49-F238E27FC236}">
                <a16:creationId xmlns:a16="http://schemas.microsoft.com/office/drawing/2014/main" id="{902A862D-426F-F703-7358-B1E2FE744E72}"/>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2221992"/>
            <a:ext cx="9144000" cy="28503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3" name="Pentagone 22">
            <a:extLst>
              <a:ext uri="{FF2B5EF4-FFF2-40B4-BE49-F238E27FC236}">
                <a16:creationId xmlns:a16="http://schemas.microsoft.com/office/drawing/2014/main" id="{D5FC7A0B-FAE3-EF0C-0157-C5665C142AD3}"/>
              </a:ext>
            </a:extLst>
          </p:cNvPr>
          <p:cNvSpPr/>
          <p:nvPr/>
        </p:nvSpPr>
        <p:spPr>
          <a:xfrm>
            <a:off x="1465118" y="137161"/>
            <a:ext cx="6556664" cy="731520"/>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Architecture réseau </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5</a:t>
            </a:r>
            <a:endParaRPr lang="en-US" sz="1000" dirty="0"/>
          </a:p>
        </p:txBody>
      </p:sp>
      <p:sp>
        <p:nvSpPr>
          <p:cNvPr id="11" name="Shape 9"/>
          <p:cNvSpPr/>
          <p:nvPr/>
        </p:nvSpPr>
        <p:spPr>
          <a:xfrm>
            <a:off x="228600" y="1261872"/>
            <a:ext cx="3566160" cy="365760"/>
          </a:xfrm>
          <a:prstGeom prst="rect">
            <a:avLst/>
          </a:prstGeom>
          <a:solidFill>
            <a:schemeClr val="tx2"/>
          </a:solidFill>
          <a:ln/>
        </p:spPr>
        <p:txBody>
          <a:bodyPr/>
          <a:lstStyle/>
          <a:p>
            <a:endParaRPr lang="es-DO"/>
          </a:p>
        </p:txBody>
      </p:sp>
      <p:sp>
        <p:nvSpPr>
          <p:cNvPr id="12" name="Text 10"/>
          <p:cNvSpPr/>
          <p:nvPr/>
        </p:nvSpPr>
        <p:spPr>
          <a:xfrm>
            <a:off x="292608" y="1261872"/>
            <a:ext cx="3438144"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Zone Contrôleur  —  192.168.40.0/24</a:t>
            </a:r>
            <a:endParaRPr lang="en-US" sz="1100" dirty="0"/>
          </a:p>
        </p:txBody>
      </p:sp>
      <p:sp>
        <p:nvSpPr>
          <p:cNvPr id="13" name="Text 11"/>
          <p:cNvSpPr/>
          <p:nvPr/>
        </p:nvSpPr>
        <p:spPr>
          <a:xfrm>
            <a:off x="365760" y="1673352"/>
            <a:ext cx="3337560" cy="2834640"/>
          </a:xfrm>
          <a:prstGeom prst="rect">
            <a:avLst/>
          </a:prstGeom>
          <a:noFill/>
          <a:ln/>
        </p:spPr>
        <p:txBody>
          <a:bodyPr wrap="square" rtlCol="0" anchor="t"/>
          <a:lstStyle/>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Routeur R1 (2901)</a:t>
            </a:r>
            <a:endParaRPr lang="en-US" sz="1250" dirty="0"/>
          </a:p>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Switch1 (Switch-PT)</a:t>
            </a:r>
            <a:endParaRPr lang="en-US" sz="1250" dirty="0"/>
          </a:p>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AccessPoint Ap01</a:t>
            </a:r>
            <a:endParaRPr lang="en-US" sz="1250" dirty="0"/>
          </a:p>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Serveur DHCP2</a:t>
            </a:r>
            <a:endParaRPr lang="en-US" sz="1250" dirty="0"/>
          </a:p>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Siren Alarme1 &amp; Alarme2</a:t>
            </a:r>
            <a:endParaRPr lang="en-US" sz="1250" dirty="0"/>
          </a:p>
          <a:p>
            <a:pPr marL="342900" indent="-342900">
              <a:buSzPct val="100000"/>
              <a:buChar char="•"/>
            </a:pPr>
            <a:r>
              <a:rPr lang="en-US" sz="1250" dirty="0">
                <a:solidFill>
                  <a:srgbClr val="1A1A1A"/>
                </a:solidFill>
                <a:latin typeface="Calibri" pitchFamily="34" charset="0"/>
                <a:ea typeface="Calibri" pitchFamily="34" charset="-122"/>
                <a:cs typeface="Calibri" pitchFamily="34" charset="-120"/>
              </a:rPr>
              <a:t>Smartphone1 (contrôle)</a:t>
            </a:r>
            <a:endParaRPr lang="en-US" sz="1250" dirty="0"/>
          </a:p>
        </p:txBody>
      </p:sp>
      <p:sp>
        <p:nvSpPr>
          <p:cNvPr id="14" name="Shape 12"/>
          <p:cNvSpPr/>
          <p:nvPr/>
        </p:nvSpPr>
        <p:spPr>
          <a:xfrm>
            <a:off x="3813048" y="2240280"/>
            <a:ext cx="1517904" cy="384048"/>
          </a:xfrm>
          <a:prstGeom prst="rect">
            <a:avLst/>
          </a:prstGeom>
          <a:solidFill>
            <a:schemeClr val="tx2"/>
          </a:solidFill>
          <a:ln w="12700">
            <a:solidFill>
              <a:srgbClr val="B22222"/>
            </a:solidFill>
            <a:prstDash val="solid"/>
          </a:ln>
        </p:spPr>
        <p:txBody>
          <a:bodyPr/>
          <a:lstStyle/>
          <a:p>
            <a:endParaRPr lang="es-DO"/>
          </a:p>
        </p:txBody>
      </p:sp>
      <p:sp>
        <p:nvSpPr>
          <p:cNvPr id="15" name="Text 13"/>
          <p:cNvSpPr/>
          <p:nvPr/>
        </p:nvSpPr>
        <p:spPr>
          <a:xfrm>
            <a:off x="3813048" y="2240280"/>
            <a:ext cx="1517904" cy="182880"/>
          </a:xfrm>
          <a:prstGeom prst="rect">
            <a:avLst/>
          </a:prstGeom>
          <a:noFill/>
          <a:ln/>
        </p:spPr>
        <p:txBody>
          <a:bodyPr wrap="square" rtlCol="0" anchor="ctr"/>
          <a:lstStyle/>
          <a:p>
            <a:pPr marL="0" indent="0" algn="ctr">
              <a:buNone/>
            </a:pPr>
            <a:r>
              <a:rPr lang="en-US" sz="1000" b="1" dirty="0">
                <a:solidFill>
                  <a:srgbClr val="B22222"/>
                </a:solidFill>
                <a:latin typeface="Calibri" pitchFamily="34" charset="0"/>
                <a:ea typeface="Calibri" pitchFamily="34" charset="-122"/>
                <a:cs typeface="Calibri" pitchFamily="34" charset="-120"/>
              </a:rPr>
              <a:t>WAN</a:t>
            </a:r>
            <a:endParaRPr lang="en-US" sz="1000" dirty="0"/>
          </a:p>
        </p:txBody>
      </p:sp>
      <p:sp>
        <p:nvSpPr>
          <p:cNvPr id="16" name="Text 14"/>
          <p:cNvSpPr/>
          <p:nvPr/>
        </p:nvSpPr>
        <p:spPr>
          <a:xfrm>
            <a:off x="3813048" y="2404872"/>
            <a:ext cx="1517904" cy="182880"/>
          </a:xfrm>
          <a:prstGeom prst="rect">
            <a:avLst/>
          </a:prstGeom>
          <a:solidFill>
            <a:schemeClr val="accent2">
              <a:lumMod val="40000"/>
              <a:lumOff val="60000"/>
            </a:schemeClr>
          </a:solidFill>
          <a:ln/>
        </p:spPr>
        <p:txBody>
          <a:bodyPr wrap="square" rtlCol="0" anchor="ctr"/>
          <a:lstStyle/>
          <a:p>
            <a:pPr marL="0" indent="0" algn="ctr">
              <a:buNone/>
            </a:pPr>
            <a:r>
              <a:rPr lang="en-US" sz="950" dirty="0">
                <a:solidFill>
                  <a:srgbClr val="B22222"/>
                </a:solidFill>
                <a:latin typeface="Calibri" pitchFamily="34" charset="0"/>
                <a:ea typeface="Calibri" pitchFamily="34" charset="-122"/>
                <a:cs typeface="Calibri" pitchFamily="34" charset="-120"/>
              </a:rPr>
              <a:t>10.10.10.1/24</a:t>
            </a:r>
            <a:endParaRPr lang="en-US" sz="950" dirty="0"/>
          </a:p>
        </p:txBody>
      </p:sp>
      <p:sp>
        <p:nvSpPr>
          <p:cNvPr id="17" name="Shape 15"/>
          <p:cNvSpPr/>
          <p:nvPr/>
        </p:nvSpPr>
        <p:spPr>
          <a:xfrm>
            <a:off x="3794760" y="2432304"/>
            <a:ext cx="0" cy="0"/>
          </a:xfrm>
          <a:prstGeom prst="line">
            <a:avLst/>
          </a:prstGeom>
          <a:noFill/>
          <a:ln w="19050">
            <a:solidFill>
              <a:srgbClr val="B22222"/>
            </a:solidFill>
            <a:prstDash val="solid"/>
          </a:ln>
        </p:spPr>
        <p:txBody>
          <a:bodyPr/>
          <a:lstStyle/>
          <a:p>
            <a:endParaRPr lang="es-DO"/>
          </a:p>
        </p:txBody>
      </p:sp>
      <p:sp>
        <p:nvSpPr>
          <p:cNvPr id="19" name="Shape 17"/>
          <p:cNvSpPr/>
          <p:nvPr/>
        </p:nvSpPr>
        <p:spPr>
          <a:xfrm>
            <a:off x="5349240" y="1261872"/>
            <a:ext cx="3566160" cy="365760"/>
          </a:xfrm>
          <a:prstGeom prst="rect">
            <a:avLst/>
          </a:prstGeom>
          <a:solidFill>
            <a:srgbClr val="1F5EA0"/>
          </a:solidFill>
          <a:ln/>
        </p:spPr>
        <p:txBody>
          <a:bodyPr/>
          <a:lstStyle/>
          <a:p>
            <a:endParaRPr lang="es-DO"/>
          </a:p>
        </p:txBody>
      </p:sp>
      <p:sp>
        <p:nvSpPr>
          <p:cNvPr id="20" name="Text 18"/>
          <p:cNvSpPr/>
          <p:nvPr/>
        </p:nvSpPr>
        <p:spPr>
          <a:xfrm>
            <a:off x="5413248" y="1261872"/>
            <a:ext cx="3438144" cy="365760"/>
          </a:xfrm>
          <a:prstGeom prst="rect">
            <a:avLst/>
          </a:prstGeom>
          <a:solidFill>
            <a:schemeClr val="tx2"/>
          </a:solid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Chambre Handicapée  —  192.168.20.0/24</a:t>
            </a:r>
            <a:endParaRPr lang="en-US" sz="1100" dirty="0"/>
          </a:p>
        </p:txBody>
      </p:sp>
      <p:sp>
        <p:nvSpPr>
          <p:cNvPr id="21" name="Text 19"/>
          <p:cNvSpPr/>
          <p:nvPr/>
        </p:nvSpPr>
        <p:spPr>
          <a:xfrm>
            <a:off x="5486400" y="1673352"/>
            <a:ext cx="3337560" cy="2834640"/>
          </a:xfrm>
          <a:prstGeom prst="rect">
            <a:avLst/>
          </a:prstGeom>
          <a:noFill/>
          <a:ln/>
        </p:spPr>
        <p:txBody>
          <a:bodyPr wrap="square" rtlCol="0" anchor="t"/>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Routeur R2 (2901)</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Switch0 (Switch-PT)</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AccessPoint Ap02</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Serveur DHCP</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Serveur IoT</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Webcam (caméra)</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Light (lumière)</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Motion Detector (détecteur)</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Door (porte)</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Window (fenêtre)</a:t>
            </a:r>
            <a:endParaRPr lang="en-US" sz="1200" dirty="0"/>
          </a:p>
        </p:txBody>
      </p:sp>
      <p:sp>
        <p:nvSpPr>
          <p:cNvPr id="22" name="Text 20"/>
          <p:cNvSpPr/>
          <p:nvPr/>
        </p:nvSpPr>
        <p:spPr>
          <a:xfrm>
            <a:off x="274320" y="4498848"/>
            <a:ext cx="8595360" cy="256032"/>
          </a:xfrm>
          <a:prstGeom prst="rect">
            <a:avLst/>
          </a:prstGeom>
          <a:noFill/>
          <a:ln/>
        </p:spPr>
        <p:txBody>
          <a:bodyPr wrap="square" rtlCol="0" anchor="ctr"/>
          <a:lstStyle/>
          <a:p>
            <a:pPr marL="0" indent="0" algn="ctr">
              <a:buNone/>
            </a:pP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4" name="Pentagone 23">
            <a:extLst>
              <a:ext uri="{FF2B5EF4-FFF2-40B4-BE49-F238E27FC236}">
                <a16:creationId xmlns:a16="http://schemas.microsoft.com/office/drawing/2014/main" id="{F431EF0B-350E-E9E9-0246-9926023872CC}"/>
              </a:ext>
            </a:extLst>
          </p:cNvPr>
          <p:cNvSpPr/>
          <p:nvPr/>
        </p:nvSpPr>
        <p:spPr>
          <a:xfrm>
            <a:off x="2732809" y="238991"/>
            <a:ext cx="3688773" cy="693697"/>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Description des zones</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6</a:t>
            </a:r>
            <a:endParaRPr lang="en-US" sz="1000" dirty="0"/>
          </a:p>
        </p:txBody>
      </p:sp>
      <p:sp>
        <p:nvSpPr>
          <p:cNvPr id="11" name="Shape 9"/>
          <p:cNvSpPr/>
          <p:nvPr/>
        </p:nvSpPr>
        <p:spPr>
          <a:xfrm>
            <a:off x="137160" y="1316736"/>
            <a:ext cx="4114800" cy="438912"/>
          </a:xfrm>
          <a:prstGeom prst="rect">
            <a:avLst/>
          </a:prstGeom>
          <a:blipFill>
            <a:blip r:embed="rId3"/>
            <a:tile tx="0" ty="0" sx="100000" sy="100000" flip="none" algn="tl"/>
          </a:blipFill>
          <a:ln/>
        </p:spPr>
        <p:txBody>
          <a:bodyPr/>
          <a:lstStyle/>
          <a:p>
            <a:endParaRPr lang="es-DO"/>
          </a:p>
        </p:txBody>
      </p:sp>
      <p:sp>
        <p:nvSpPr>
          <p:cNvPr id="12" name="Text 10"/>
          <p:cNvSpPr/>
          <p:nvPr/>
        </p:nvSpPr>
        <p:spPr>
          <a:xfrm>
            <a:off x="347472" y="1261872"/>
            <a:ext cx="397764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Poste de Contrôle (Gauche)</a:t>
            </a:r>
            <a:endParaRPr lang="en-US" sz="1300" dirty="0"/>
          </a:p>
        </p:txBody>
      </p:sp>
      <p:sp>
        <p:nvSpPr>
          <p:cNvPr id="13" name="Text 11"/>
          <p:cNvSpPr/>
          <p:nvPr/>
        </p:nvSpPr>
        <p:spPr>
          <a:xfrm>
            <a:off x="411480" y="1755648"/>
            <a:ext cx="3840480" cy="27432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Rôle :</a:t>
            </a:r>
            <a:endParaRPr lang="en-US" sz="1200" dirty="0"/>
          </a:p>
        </p:txBody>
      </p:sp>
      <p:sp>
        <p:nvSpPr>
          <p:cNvPr id="14" name="Text 12"/>
          <p:cNvSpPr/>
          <p:nvPr/>
        </p:nvSpPr>
        <p:spPr>
          <a:xfrm>
            <a:off x="411480" y="2029968"/>
            <a:ext cx="3840480" cy="7315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Le contrôleur est le poste central de surveillance médicale. Le personnel de sécurité peut observer en temps réel la chambre du patient et déclencher des actions à distance.</a:t>
            </a:r>
            <a:endParaRPr lang="en-US" sz="1200" dirty="0"/>
          </a:p>
        </p:txBody>
      </p:sp>
      <p:sp>
        <p:nvSpPr>
          <p:cNvPr id="15" name="Text 13"/>
          <p:cNvSpPr/>
          <p:nvPr/>
        </p:nvSpPr>
        <p:spPr>
          <a:xfrm>
            <a:off x="411480" y="2798064"/>
            <a:ext cx="3840480" cy="27432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Équipements :</a:t>
            </a:r>
            <a:endParaRPr lang="en-US" sz="1200" dirty="0"/>
          </a:p>
        </p:txBody>
      </p:sp>
      <p:sp>
        <p:nvSpPr>
          <p:cNvPr id="16" name="Text 14"/>
          <p:cNvSpPr/>
          <p:nvPr/>
        </p:nvSpPr>
        <p:spPr>
          <a:xfrm>
            <a:off x="411480" y="3072384"/>
            <a:ext cx="3840480" cy="1417320"/>
          </a:xfrm>
          <a:prstGeom prst="rect">
            <a:avLst/>
          </a:prstGeom>
          <a:noFill/>
          <a:ln/>
        </p:spPr>
        <p:txBody>
          <a:bodyPr wrap="square" rtlCol="0" anchor="t"/>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Routeur R1 + Switch1 + AP01</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Serveur DHCP (192.168.40.1/24)</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Siren Alarme1 &amp; Alarme2</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Smartphone1 (interface de contrôle)</a:t>
            </a:r>
            <a:endParaRPr lang="en-US" sz="1200" dirty="0"/>
          </a:p>
        </p:txBody>
      </p:sp>
      <p:sp>
        <p:nvSpPr>
          <p:cNvPr id="18" name="Shape 16"/>
          <p:cNvSpPr/>
          <p:nvPr/>
        </p:nvSpPr>
        <p:spPr>
          <a:xfrm>
            <a:off x="4754880" y="1261872"/>
            <a:ext cx="4114800" cy="438912"/>
          </a:xfrm>
          <a:prstGeom prst="rect">
            <a:avLst/>
          </a:prstGeom>
          <a:blipFill>
            <a:blip r:embed="rId4"/>
            <a:tile tx="0" ty="0" sx="100000" sy="100000" flip="none" algn="tl"/>
          </a:blipFill>
          <a:ln/>
        </p:spPr>
        <p:txBody>
          <a:bodyPr/>
          <a:lstStyle/>
          <a:p>
            <a:endParaRPr lang="es-DO"/>
          </a:p>
        </p:txBody>
      </p:sp>
      <p:sp>
        <p:nvSpPr>
          <p:cNvPr id="19" name="Text 17"/>
          <p:cNvSpPr/>
          <p:nvPr/>
        </p:nvSpPr>
        <p:spPr>
          <a:xfrm>
            <a:off x="4828032" y="1261872"/>
            <a:ext cx="3977640" cy="43891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Chambre Handicapée (Droite)</a:t>
            </a:r>
            <a:endParaRPr lang="en-US" sz="1300" dirty="0"/>
          </a:p>
        </p:txBody>
      </p:sp>
      <p:sp>
        <p:nvSpPr>
          <p:cNvPr id="20" name="Text 18"/>
          <p:cNvSpPr/>
          <p:nvPr/>
        </p:nvSpPr>
        <p:spPr>
          <a:xfrm>
            <a:off x="4892040" y="1755648"/>
            <a:ext cx="3840480" cy="27432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Rôle </a:t>
            </a:r>
            <a:r>
              <a:rPr lang="en-US" sz="1200" b="1" dirty="0">
                <a:solidFill>
                  <a:srgbClr val="1F5EA0"/>
                </a:solidFill>
                <a:latin typeface="Calibri" pitchFamily="34" charset="0"/>
                <a:ea typeface="Calibri" pitchFamily="34" charset="-122"/>
                <a:cs typeface="Calibri" pitchFamily="34" charset="-120"/>
              </a:rPr>
              <a:t>:</a:t>
            </a:r>
            <a:endParaRPr lang="en-US" sz="1200" dirty="0"/>
          </a:p>
        </p:txBody>
      </p:sp>
      <p:sp>
        <p:nvSpPr>
          <p:cNvPr id="21" name="Text 19"/>
          <p:cNvSpPr/>
          <p:nvPr/>
        </p:nvSpPr>
        <p:spPr>
          <a:xfrm>
            <a:off x="4892040" y="2029968"/>
            <a:ext cx="3840480" cy="7315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chambre est équipée de capteurs IoT connectés. Si un patient a besoin d'aide ou si un mouvement est détecté, le système réagit automatiquement et alerte le contrôleur.</a:t>
            </a:r>
            <a:endParaRPr lang="en-US" sz="1200" dirty="0"/>
          </a:p>
        </p:txBody>
      </p:sp>
      <p:sp>
        <p:nvSpPr>
          <p:cNvPr id="22" name="Text 20"/>
          <p:cNvSpPr/>
          <p:nvPr/>
        </p:nvSpPr>
        <p:spPr>
          <a:xfrm>
            <a:off x="4892040" y="2798064"/>
            <a:ext cx="3840480" cy="274320"/>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Équipements :</a:t>
            </a:r>
            <a:endParaRPr lang="en-US" sz="1200" dirty="0"/>
          </a:p>
        </p:txBody>
      </p:sp>
      <p:sp>
        <p:nvSpPr>
          <p:cNvPr id="23" name="Text 21"/>
          <p:cNvSpPr/>
          <p:nvPr/>
        </p:nvSpPr>
        <p:spPr>
          <a:xfrm>
            <a:off x="4892040" y="3072384"/>
            <a:ext cx="3840480" cy="1417320"/>
          </a:xfrm>
          <a:prstGeom prst="rect">
            <a:avLst/>
          </a:prstGeom>
          <a:noFill/>
          <a:ln/>
        </p:spPr>
        <p:txBody>
          <a:bodyPr wrap="square" rtlCol="0" anchor="t"/>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Routeur R2 + Switch0 + AP02</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Serveur DHCP + Serveur IoT</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Webcam, Lumière (Light)</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Détecteur de mouvement</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Porte (Door) + Fenêtre (Window)</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9" name="Ellipse 28">
            <a:extLst>
              <a:ext uri="{FF2B5EF4-FFF2-40B4-BE49-F238E27FC236}">
                <a16:creationId xmlns:a16="http://schemas.microsoft.com/office/drawing/2014/main" id="{3909A822-C221-CE37-24F1-EF1689249A8B}"/>
              </a:ext>
            </a:extLst>
          </p:cNvPr>
          <p:cNvSpPr/>
          <p:nvPr/>
        </p:nvSpPr>
        <p:spPr>
          <a:xfrm>
            <a:off x="1901536" y="218209"/>
            <a:ext cx="5230784" cy="6504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Scénarios de fonctionnement</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7</a:t>
            </a:r>
            <a:endParaRPr lang="en-US" sz="1000" dirty="0"/>
          </a:p>
        </p:txBody>
      </p:sp>
      <p:sp>
        <p:nvSpPr>
          <p:cNvPr id="10" name="Text 8"/>
          <p:cNvSpPr/>
          <p:nvPr/>
        </p:nvSpPr>
        <p:spPr>
          <a:xfrm>
            <a:off x="457200" y="1280160"/>
            <a:ext cx="8229600" cy="457200"/>
          </a:xfrm>
          <a:prstGeom prst="rect">
            <a:avLst/>
          </a:prstGeom>
          <a:noFill/>
          <a:ln/>
        </p:spPr>
        <p:txBody>
          <a:bodyPr wrap="square" rtlCol="0" anchor="ctr"/>
          <a:lstStyle/>
          <a:p>
            <a:pPr marL="0" indent="0">
              <a:buNone/>
            </a:pPr>
            <a:r>
              <a:rPr lang="en-US" sz="1600" dirty="0">
                <a:latin typeface="Calibri" pitchFamily="34" charset="0"/>
                <a:ea typeface="Calibri" pitchFamily="34" charset="-122"/>
                <a:cs typeface="Calibri" pitchFamily="34" charset="-120"/>
              </a:rPr>
              <a:t>Le système fonctionne selon des conditions programmées dans le Serveur IoT. Voici les 3 scénarios automatisés :</a:t>
            </a:r>
            <a:endParaRPr lang="en-US" sz="1600" dirty="0"/>
          </a:p>
        </p:txBody>
      </p:sp>
      <p:sp>
        <p:nvSpPr>
          <p:cNvPr id="13" name="Text 11"/>
          <p:cNvSpPr/>
          <p:nvPr/>
        </p:nvSpPr>
        <p:spPr>
          <a:xfrm>
            <a:off x="320040" y="199339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4" name="Text 12"/>
          <p:cNvSpPr/>
          <p:nvPr/>
        </p:nvSpPr>
        <p:spPr>
          <a:xfrm>
            <a:off x="850392" y="1874520"/>
            <a:ext cx="4389120" cy="29260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Détection de mouvement → Surveillance</a:t>
            </a:r>
            <a:endParaRPr lang="en-US" sz="1400" dirty="0"/>
          </a:p>
        </p:txBody>
      </p:sp>
      <p:sp>
        <p:nvSpPr>
          <p:cNvPr id="15" name="Text 13"/>
          <p:cNvSpPr/>
          <p:nvPr/>
        </p:nvSpPr>
        <p:spPr>
          <a:xfrm>
            <a:off x="717804" y="2148840"/>
            <a:ext cx="3657600" cy="219456"/>
          </a:xfrm>
          <a:prstGeom prst="rect">
            <a:avLst/>
          </a:prstGeom>
          <a:noFill/>
          <a:ln/>
        </p:spPr>
        <p:txBody>
          <a:bodyPr wrap="square"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CONDITION : Si : Motion Detector détecte un mouvement</a:t>
            </a:r>
            <a:endParaRPr lang="en-US" sz="1200" dirty="0"/>
          </a:p>
        </p:txBody>
      </p:sp>
      <p:sp>
        <p:nvSpPr>
          <p:cNvPr id="16" name="Text 14"/>
          <p:cNvSpPr/>
          <p:nvPr/>
        </p:nvSpPr>
        <p:spPr>
          <a:xfrm>
            <a:off x="4480560" y="1883664"/>
            <a:ext cx="4297680" cy="68580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ACTIONS : Webcam s'active et filme la chambre  •  Lumière (Light) s'allume automatiquement  •  La fenêtre s'ouvre pour l'aération</a:t>
            </a:r>
            <a:endParaRPr lang="en-US" sz="1400" dirty="0"/>
          </a:p>
        </p:txBody>
      </p:sp>
      <p:sp>
        <p:nvSpPr>
          <p:cNvPr id="19" name="Text 17"/>
          <p:cNvSpPr/>
          <p:nvPr/>
        </p:nvSpPr>
        <p:spPr>
          <a:xfrm>
            <a:off x="320040" y="290779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0" name="Text 18"/>
          <p:cNvSpPr/>
          <p:nvPr/>
        </p:nvSpPr>
        <p:spPr>
          <a:xfrm>
            <a:off x="850392" y="2788920"/>
            <a:ext cx="4389120" cy="292608"/>
          </a:xfrm>
          <a:prstGeom prst="rect">
            <a:avLst/>
          </a:prstGeom>
          <a:noFill/>
          <a:ln/>
        </p:spPr>
        <p:txBody>
          <a:bodyPr wrap="square" rtlCol="0" anchor="ctr"/>
          <a:lstStyle/>
          <a:p>
            <a:pPr marL="0" indent="0">
              <a:buNone/>
            </a:pPr>
            <a:r>
              <a:rPr lang="en-US" sz="1200" b="1" dirty="0">
                <a:latin typeface="Calibri" pitchFamily="34" charset="0"/>
                <a:ea typeface="Calibri" pitchFamily="34" charset="-122"/>
                <a:cs typeface="Calibri" pitchFamily="34" charset="-120"/>
              </a:rPr>
              <a:t>Intrusion ou danger → Alarme</a:t>
            </a:r>
            <a:endParaRPr lang="en-US" sz="1200" dirty="0"/>
          </a:p>
        </p:txBody>
      </p:sp>
      <p:sp>
        <p:nvSpPr>
          <p:cNvPr id="21" name="Text 19"/>
          <p:cNvSpPr/>
          <p:nvPr/>
        </p:nvSpPr>
        <p:spPr>
          <a:xfrm>
            <a:off x="673746" y="3170059"/>
            <a:ext cx="3657600" cy="219456"/>
          </a:xfrm>
          <a:prstGeom prst="rect">
            <a:avLst/>
          </a:prstGeom>
          <a:noFill/>
          <a:ln/>
        </p:spPr>
        <p:txBody>
          <a:bodyPr wrap="square" rtlCol="0" anchor="ctr"/>
          <a:lstStyle/>
          <a:p>
            <a:pPr marL="0" indent="0">
              <a:buNone/>
            </a:pPr>
            <a:r>
              <a:rPr lang="en-US" sz="1400" i="1" dirty="0">
                <a:solidFill>
                  <a:srgbClr val="555555"/>
                </a:solidFill>
                <a:latin typeface="Calibri" pitchFamily="34" charset="0"/>
                <a:ea typeface="Calibri" pitchFamily="34" charset="-122"/>
                <a:cs typeface="Calibri" pitchFamily="34" charset="-120"/>
              </a:rPr>
              <a:t>CONDITION : Si : Mouvement suspect ou accès non autorisé détecté</a:t>
            </a:r>
            <a:endParaRPr lang="en-US" sz="1400" dirty="0"/>
          </a:p>
        </p:txBody>
      </p:sp>
      <p:sp>
        <p:nvSpPr>
          <p:cNvPr id="22" name="Text 20"/>
          <p:cNvSpPr/>
          <p:nvPr/>
        </p:nvSpPr>
        <p:spPr>
          <a:xfrm>
            <a:off x="4480560" y="2798064"/>
            <a:ext cx="4297680" cy="68580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ACTIONS : Alarme (Siren) se déclenche au poste de contrôle  •  Caméra enregistre la scène  •  Notification envoyée au Smartphone du contrôleur</a:t>
            </a:r>
            <a:endParaRPr lang="en-US" sz="1400" dirty="0"/>
          </a:p>
        </p:txBody>
      </p:sp>
      <p:sp>
        <p:nvSpPr>
          <p:cNvPr id="25" name="Text 23"/>
          <p:cNvSpPr/>
          <p:nvPr/>
        </p:nvSpPr>
        <p:spPr>
          <a:xfrm>
            <a:off x="320040" y="382219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4"/>
          <p:cNvSpPr/>
          <p:nvPr/>
        </p:nvSpPr>
        <p:spPr>
          <a:xfrm>
            <a:off x="850392" y="3703320"/>
            <a:ext cx="4389120" cy="292608"/>
          </a:xfrm>
          <a:prstGeom prst="rect">
            <a:avLst/>
          </a:prstGeom>
          <a:noFill/>
          <a:ln/>
        </p:spPr>
        <p:txBody>
          <a:bodyPr wrap="square" rtlCol="0" anchor="ctr"/>
          <a:lstStyle/>
          <a:p>
            <a:pPr marL="0" indent="0">
              <a:buNone/>
            </a:pPr>
            <a:r>
              <a:rPr lang="en-US" sz="1400" b="1" dirty="0">
                <a:latin typeface="Calibri" pitchFamily="34" charset="0"/>
                <a:ea typeface="Calibri" pitchFamily="34" charset="-122"/>
                <a:cs typeface="Calibri" pitchFamily="34" charset="-120"/>
              </a:rPr>
              <a:t>Absence de danger → Veille</a:t>
            </a:r>
            <a:endParaRPr lang="en-US" sz="1400" dirty="0"/>
          </a:p>
        </p:txBody>
      </p:sp>
      <p:sp>
        <p:nvSpPr>
          <p:cNvPr id="27" name="Text 25"/>
          <p:cNvSpPr/>
          <p:nvPr/>
        </p:nvSpPr>
        <p:spPr>
          <a:xfrm>
            <a:off x="850392" y="3995928"/>
            <a:ext cx="3657600" cy="219456"/>
          </a:xfrm>
          <a:prstGeom prst="rect">
            <a:avLst/>
          </a:prstGeom>
          <a:noFill/>
          <a:ln/>
        </p:spPr>
        <p:txBody>
          <a:bodyPr wrap="square" rtlCol="0" anchor="ctr"/>
          <a:lstStyle/>
          <a:p>
            <a:pPr marL="0" indent="0">
              <a:buNone/>
            </a:pPr>
            <a:r>
              <a:rPr lang="en-US" sz="1200" i="1" dirty="0">
                <a:solidFill>
                  <a:srgbClr val="555555"/>
                </a:solidFill>
                <a:latin typeface="Calibri" pitchFamily="34" charset="0"/>
                <a:ea typeface="Calibri" pitchFamily="34" charset="-122"/>
                <a:cs typeface="Calibri" pitchFamily="34" charset="-120"/>
              </a:rPr>
              <a:t>CONDITION : Si : Aucun mouvement détecté pendant X secondes</a:t>
            </a:r>
            <a:endParaRPr lang="en-US" sz="1200" dirty="0"/>
          </a:p>
        </p:txBody>
      </p:sp>
      <p:sp>
        <p:nvSpPr>
          <p:cNvPr id="28" name="Text 26"/>
          <p:cNvSpPr/>
          <p:nvPr/>
        </p:nvSpPr>
        <p:spPr>
          <a:xfrm>
            <a:off x="4480560" y="3712464"/>
            <a:ext cx="4297680" cy="685800"/>
          </a:xfrm>
          <a:prstGeom prst="rect">
            <a:avLst/>
          </a:prstGeom>
          <a:noFill/>
          <a:ln/>
        </p:spPr>
        <p:txBody>
          <a:bodyPr wrap="square" rtlCol="0" anchor="ctr"/>
          <a:lstStyle/>
          <a:p>
            <a:pPr marL="0" indent="0">
              <a:buNone/>
            </a:pPr>
            <a:r>
              <a:rPr lang="en-US" sz="1400" dirty="0">
                <a:latin typeface="Calibri" pitchFamily="34" charset="0"/>
                <a:ea typeface="Calibri" pitchFamily="34" charset="-122"/>
                <a:cs typeface="Calibri" pitchFamily="34" charset="-120"/>
              </a:rPr>
              <a:t>ACTIONS : La lumière s'éteint automatiquement  •  La fenêtre se ferme  •  Le système retourne en mode veille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6" name="Ellipse 35">
            <a:extLst>
              <a:ext uri="{FF2B5EF4-FFF2-40B4-BE49-F238E27FC236}">
                <a16:creationId xmlns:a16="http://schemas.microsoft.com/office/drawing/2014/main" id="{B738C022-E01C-7FA7-B96D-1E1DBBA432CA}"/>
              </a:ext>
            </a:extLst>
          </p:cNvPr>
          <p:cNvSpPr/>
          <p:nvPr/>
        </p:nvSpPr>
        <p:spPr>
          <a:xfrm>
            <a:off x="2951018" y="207818"/>
            <a:ext cx="3335482" cy="77973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Plan d'adressage IP</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9</a:t>
            </a:r>
            <a:endParaRPr lang="en-US" sz="1000" dirty="0"/>
          </a:p>
        </p:txBody>
      </p:sp>
      <p:sp>
        <p:nvSpPr>
          <p:cNvPr id="10" name="Text 8"/>
          <p:cNvSpPr/>
          <p:nvPr/>
        </p:nvSpPr>
        <p:spPr>
          <a:xfrm>
            <a:off x="457200" y="1280160"/>
            <a:ext cx="8229600" cy="36576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Le réseau est divisé en 3 sous-réseaux distincts assurant la séparation logique des zones :</a:t>
            </a:r>
            <a:endParaRPr lang="en-US" sz="1400" dirty="0"/>
          </a:p>
        </p:txBody>
      </p:sp>
      <p:sp>
        <p:nvSpPr>
          <p:cNvPr id="11" name="Shape 9"/>
          <p:cNvSpPr/>
          <p:nvPr/>
        </p:nvSpPr>
        <p:spPr>
          <a:xfrm>
            <a:off x="457200" y="1719072"/>
            <a:ext cx="8229600" cy="411480"/>
          </a:xfrm>
          <a:prstGeom prst="rect">
            <a:avLst/>
          </a:prstGeom>
          <a:solidFill>
            <a:schemeClr val="accent1">
              <a:lumMod val="75000"/>
            </a:schemeClr>
          </a:solidFill>
          <a:ln/>
        </p:spPr>
        <p:txBody>
          <a:bodyPr/>
          <a:lstStyle/>
          <a:p>
            <a:endParaRPr lang="es-DO"/>
          </a:p>
        </p:txBody>
      </p:sp>
      <p:sp>
        <p:nvSpPr>
          <p:cNvPr id="12" name="Text 10"/>
          <p:cNvSpPr/>
          <p:nvPr/>
        </p:nvSpPr>
        <p:spPr>
          <a:xfrm>
            <a:off x="502920" y="1728216"/>
            <a:ext cx="19659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Zone / Équipement</a:t>
            </a:r>
            <a:endParaRPr lang="en-US" sz="1200" dirty="0"/>
          </a:p>
        </p:txBody>
      </p:sp>
      <p:sp>
        <p:nvSpPr>
          <p:cNvPr id="13" name="Text 11"/>
          <p:cNvSpPr/>
          <p:nvPr/>
        </p:nvSpPr>
        <p:spPr>
          <a:xfrm>
            <a:off x="2514600" y="1728216"/>
            <a:ext cx="173736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Réseau</a:t>
            </a:r>
            <a:endParaRPr lang="en-US" sz="1200" dirty="0"/>
          </a:p>
        </p:txBody>
      </p:sp>
      <p:sp>
        <p:nvSpPr>
          <p:cNvPr id="14" name="Text 12"/>
          <p:cNvSpPr/>
          <p:nvPr/>
        </p:nvSpPr>
        <p:spPr>
          <a:xfrm>
            <a:off x="4297680" y="1728216"/>
            <a:ext cx="146304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Masque</a:t>
            </a:r>
            <a:endParaRPr lang="en-US" sz="1200" dirty="0"/>
          </a:p>
        </p:txBody>
      </p:sp>
      <p:sp>
        <p:nvSpPr>
          <p:cNvPr id="15" name="Text 13"/>
          <p:cNvSpPr/>
          <p:nvPr/>
        </p:nvSpPr>
        <p:spPr>
          <a:xfrm>
            <a:off x="5806440" y="1728216"/>
            <a:ext cx="141732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Passerelle</a:t>
            </a:r>
            <a:endParaRPr lang="en-US" sz="1200" dirty="0"/>
          </a:p>
        </p:txBody>
      </p:sp>
      <p:sp>
        <p:nvSpPr>
          <p:cNvPr id="16" name="Text 14"/>
          <p:cNvSpPr/>
          <p:nvPr/>
        </p:nvSpPr>
        <p:spPr>
          <a:xfrm>
            <a:off x="7269480" y="1728216"/>
            <a:ext cx="1371600" cy="38404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Rôle</a:t>
            </a:r>
            <a:endParaRPr lang="en-US" sz="1200" dirty="0"/>
          </a:p>
        </p:txBody>
      </p:sp>
      <p:sp>
        <p:nvSpPr>
          <p:cNvPr id="18" name="Text 16"/>
          <p:cNvSpPr/>
          <p:nvPr/>
        </p:nvSpPr>
        <p:spPr>
          <a:xfrm>
            <a:off x="502920" y="2203704"/>
            <a:ext cx="19659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Contrôleur (R1, Switch1, Ap01, DHCP2, Siren, Smartphone)</a:t>
            </a:r>
            <a:endParaRPr lang="en-US" sz="1150" dirty="0"/>
          </a:p>
        </p:txBody>
      </p:sp>
      <p:sp>
        <p:nvSpPr>
          <p:cNvPr id="19" name="Text 17"/>
          <p:cNvSpPr/>
          <p:nvPr/>
        </p:nvSpPr>
        <p:spPr>
          <a:xfrm>
            <a:off x="2514600" y="2203704"/>
            <a:ext cx="17373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192.168.40.0</a:t>
            </a:r>
            <a:endParaRPr lang="en-US" sz="1150" dirty="0"/>
          </a:p>
        </p:txBody>
      </p:sp>
      <p:sp>
        <p:nvSpPr>
          <p:cNvPr id="20" name="Text 18"/>
          <p:cNvSpPr/>
          <p:nvPr/>
        </p:nvSpPr>
        <p:spPr>
          <a:xfrm>
            <a:off x="4297680" y="2203704"/>
            <a:ext cx="146304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/24</a:t>
            </a:r>
            <a:endParaRPr lang="en-US" sz="1150" dirty="0"/>
          </a:p>
        </p:txBody>
      </p:sp>
      <p:sp>
        <p:nvSpPr>
          <p:cNvPr id="21" name="Text 19"/>
          <p:cNvSpPr/>
          <p:nvPr/>
        </p:nvSpPr>
        <p:spPr>
          <a:xfrm>
            <a:off x="5806440" y="2203704"/>
            <a:ext cx="141732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192.168.40.1</a:t>
            </a:r>
            <a:endParaRPr lang="en-US" sz="1150" dirty="0"/>
          </a:p>
        </p:txBody>
      </p:sp>
      <p:sp>
        <p:nvSpPr>
          <p:cNvPr id="22" name="Text 20"/>
          <p:cNvSpPr/>
          <p:nvPr/>
        </p:nvSpPr>
        <p:spPr>
          <a:xfrm>
            <a:off x="7269480" y="2203704"/>
            <a:ext cx="137160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Zone de contrôle médical</a:t>
            </a:r>
            <a:endParaRPr lang="en-US" sz="1150" dirty="0"/>
          </a:p>
        </p:txBody>
      </p:sp>
      <p:sp>
        <p:nvSpPr>
          <p:cNvPr id="24" name="Text 22"/>
          <p:cNvSpPr/>
          <p:nvPr/>
        </p:nvSpPr>
        <p:spPr>
          <a:xfrm>
            <a:off x="502920" y="3008376"/>
            <a:ext cx="19659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Chambre (R2, Switch0, Ap02, DHCP, IoT Server, devices)</a:t>
            </a:r>
            <a:endParaRPr lang="en-US" sz="1150" dirty="0"/>
          </a:p>
        </p:txBody>
      </p:sp>
      <p:sp>
        <p:nvSpPr>
          <p:cNvPr id="25" name="Text 23"/>
          <p:cNvSpPr/>
          <p:nvPr/>
        </p:nvSpPr>
        <p:spPr>
          <a:xfrm>
            <a:off x="2514600" y="3008376"/>
            <a:ext cx="17373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192.168.20.0</a:t>
            </a:r>
            <a:endParaRPr lang="en-US" sz="1150" dirty="0"/>
          </a:p>
        </p:txBody>
      </p:sp>
      <p:sp>
        <p:nvSpPr>
          <p:cNvPr id="26" name="Text 24"/>
          <p:cNvSpPr/>
          <p:nvPr/>
        </p:nvSpPr>
        <p:spPr>
          <a:xfrm>
            <a:off x="4297680" y="3008376"/>
            <a:ext cx="146304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/24</a:t>
            </a:r>
            <a:endParaRPr lang="en-US" sz="1150" dirty="0"/>
          </a:p>
        </p:txBody>
      </p:sp>
      <p:sp>
        <p:nvSpPr>
          <p:cNvPr id="27" name="Text 25"/>
          <p:cNvSpPr/>
          <p:nvPr/>
        </p:nvSpPr>
        <p:spPr>
          <a:xfrm>
            <a:off x="5806440" y="3008376"/>
            <a:ext cx="141732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192.168.20.1</a:t>
            </a:r>
            <a:endParaRPr lang="en-US" sz="1150" dirty="0"/>
          </a:p>
        </p:txBody>
      </p:sp>
      <p:sp>
        <p:nvSpPr>
          <p:cNvPr id="28" name="Text 26"/>
          <p:cNvSpPr/>
          <p:nvPr/>
        </p:nvSpPr>
        <p:spPr>
          <a:xfrm>
            <a:off x="7269480" y="3008376"/>
            <a:ext cx="137160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Zone patient handicapé</a:t>
            </a:r>
            <a:endParaRPr lang="en-US" sz="1150" dirty="0"/>
          </a:p>
        </p:txBody>
      </p:sp>
      <p:sp>
        <p:nvSpPr>
          <p:cNvPr id="30" name="Text 28"/>
          <p:cNvSpPr/>
          <p:nvPr/>
        </p:nvSpPr>
        <p:spPr>
          <a:xfrm>
            <a:off x="502920" y="3813048"/>
            <a:ext cx="19659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Liaison WAN (R1 ↔ R2)</a:t>
            </a:r>
            <a:endParaRPr lang="en-US" sz="1150" dirty="0"/>
          </a:p>
        </p:txBody>
      </p:sp>
      <p:sp>
        <p:nvSpPr>
          <p:cNvPr id="31" name="Text 29"/>
          <p:cNvSpPr/>
          <p:nvPr/>
        </p:nvSpPr>
        <p:spPr>
          <a:xfrm>
            <a:off x="2514600" y="3813048"/>
            <a:ext cx="173736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10.10.10.0</a:t>
            </a:r>
            <a:endParaRPr lang="en-US" sz="1150" dirty="0"/>
          </a:p>
        </p:txBody>
      </p:sp>
      <p:sp>
        <p:nvSpPr>
          <p:cNvPr id="32" name="Text 30"/>
          <p:cNvSpPr/>
          <p:nvPr/>
        </p:nvSpPr>
        <p:spPr>
          <a:xfrm>
            <a:off x="4297680" y="3813048"/>
            <a:ext cx="146304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/24</a:t>
            </a:r>
            <a:endParaRPr lang="en-US" sz="1150" dirty="0"/>
          </a:p>
        </p:txBody>
      </p:sp>
      <p:sp>
        <p:nvSpPr>
          <p:cNvPr id="33" name="Text 31"/>
          <p:cNvSpPr/>
          <p:nvPr/>
        </p:nvSpPr>
        <p:spPr>
          <a:xfrm>
            <a:off x="5806440" y="3813048"/>
            <a:ext cx="141732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t>
            </a:r>
            <a:endParaRPr lang="en-US" sz="1150" dirty="0"/>
          </a:p>
        </p:txBody>
      </p:sp>
      <p:sp>
        <p:nvSpPr>
          <p:cNvPr id="34" name="Text 32"/>
          <p:cNvSpPr/>
          <p:nvPr/>
        </p:nvSpPr>
        <p:spPr>
          <a:xfrm>
            <a:off x="7269480" y="3813048"/>
            <a:ext cx="1371600" cy="65836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Interconnexion routeurs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1" name="Rectangle : coins arrondis 30">
            <a:extLst>
              <a:ext uri="{FF2B5EF4-FFF2-40B4-BE49-F238E27FC236}">
                <a16:creationId xmlns:a16="http://schemas.microsoft.com/office/drawing/2014/main" id="{FC4B592F-EEE6-99CB-CBCF-2BF0E62A5E23}"/>
              </a:ext>
            </a:extLst>
          </p:cNvPr>
          <p:cNvSpPr/>
          <p:nvPr/>
        </p:nvSpPr>
        <p:spPr>
          <a:xfrm>
            <a:off x="2992582" y="290945"/>
            <a:ext cx="3958936" cy="68746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Résultats et analyse</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10</a:t>
            </a:r>
            <a:endParaRPr lang="en-US" sz="1000" dirty="0"/>
          </a:p>
        </p:txBody>
      </p:sp>
      <p:sp>
        <p:nvSpPr>
          <p:cNvPr id="10" name="Text 8"/>
          <p:cNvSpPr/>
          <p:nvPr/>
        </p:nvSpPr>
        <p:spPr>
          <a:xfrm>
            <a:off x="457200" y="1280160"/>
            <a:ext cx="8229600" cy="384048"/>
          </a:xfrm>
          <a:prstGeom prst="rect">
            <a:avLst/>
          </a:prstGeom>
          <a:noFill/>
          <a:ln/>
        </p:spPr>
        <p:txBody>
          <a:bodyPr wrap="square" rtlCol="0" anchor="ctr"/>
          <a:lstStyle/>
          <a:p>
            <a:pPr marL="0" indent="0">
              <a:buNone/>
            </a:pPr>
            <a:r>
              <a:rPr lang="en-US" sz="1350" dirty="0">
                <a:solidFill>
                  <a:srgbClr val="1A1A1A"/>
                </a:solidFill>
                <a:latin typeface="Calibri" pitchFamily="34" charset="0"/>
                <a:ea typeface="Calibri" pitchFamily="34" charset="-122"/>
                <a:cs typeface="Calibri" pitchFamily="34" charset="-120"/>
              </a:rPr>
              <a:t>La simulation dans Cisco a permis de valider le bon fonctionnement du système IoT hospitalier :</a:t>
            </a:r>
            <a:endParaRPr lang="en-US" sz="1350" dirty="0"/>
          </a:p>
        </p:txBody>
      </p:sp>
      <p:sp>
        <p:nvSpPr>
          <p:cNvPr id="13" name="Text 11"/>
          <p:cNvSpPr/>
          <p:nvPr/>
        </p:nvSpPr>
        <p:spPr>
          <a:xfrm>
            <a:off x="384048" y="1865376"/>
            <a:ext cx="384048" cy="384048"/>
          </a:xfrm>
          <a:prstGeom prst="rect">
            <a:avLst/>
          </a:prstGeom>
          <a:noFill/>
          <a:ln/>
        </p:spPr>
        <p:txBody>
          <a:bodyPr wrap="square" rtlCol="0" anchor="ctr"/>
          <a:lstStyle/>
          <a:p>
            <a:pPr marL="0" indent="0" algn="ctr">
              <a:buNone/>
            </a:pPr>
            <a:endParaRPr lang="en-US" sz="1500" dirty="0"/>
          </a:p>
        </p:txBody>
      </p:sp>
      <p:sp>
        <p:nvSpPr>
          <p:cNvPr id="14" name="Text 12"/>
          <p:cNvSpPr/>
          <p:nvPr/>
        </p:nvSpPr>
        <p:spPr>
          <a:xfrm>
            <a:off x="841248" y="1828800"/>
            <a:ext cx="3474720" cy="292608"/>
          </a:xfrm>
          <a:prstGeom prst="rect">
            <a:avLst/>
          </a:prstGeom>
          <a:noFill/>
          <a:ln/>
        </p:spPr>
        <p:txBody>
          <a:bodyPr wrap="square" rtlCol="0" anchor="ctr"/>
          <a:lstStyle/>
          <a:p>
            <a:pPr marL="0" indent="0">
              <a:buNone/>
            </a:pPr>
            <a:r>
              <a:rPr lang="en-US" sz="2000" b="1" dirty="0">
                <a:latin typeface="Calibri" pitchFamily="34" charset="0"/>
                <a:ea typeface="Calibri" pitchFamily="34" charset="-122"/>
                <a:cs typeface="Calibri" pitchFamily="34" charset="-120"/>
              </a:rPr>
              <a:t>Réseau opérationnel</a:t>
            </a:r>
            <a:endParaRPr lang="en-US" sz="2000" b="1" dirty="0"/>
          </a:p>
        </p:txBody>
      </p:sp>
      <p:sp>
        <p:nvSpPr>
          <p:cNvPr id="15" name="Text 13"/>
          <p:cNvSpPr/>
          <p:nvPr/>
        </p:nvSpPr>
        <p:spPr>
          <a:xfrm>
            <a:off x="384048" y="2267712"/>
            <a:ext cx="3931920" cy="74980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Les 3 sous-réseaux communiquent correctement. Les routeurs R1 et R2 échangent les données via la liaison WAN 10.10.10.0/24.</a:t>
            </a:r>
            <a:endParaRPr lang="en-US" sz="1150" dirty="0"/>
          </a:p>
        </p:txBody>
      </p:sp>
      <p:sp>
        <p:nvSpPr>
          <p:cNvPr id="19" name="Text 17"/>
          <p:cNvSpPr/>
          <p:nvPr/>
        </p:nvSpPr>
        <p:spPr>
          <a:xfrm>
            <a:off x="5230368" y="1828800"/>
            <a:ext cx="3474720" cy="292608"/>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Détection fonctionnelle</a:t>
            </a:r>
            <a:endParaRPr lang="en-US" sz="1300" dirty="0"/>
          </a:p>
        </p:txBody>
      </p:sp>
      <p:sp>
        <p:nvSpPr>
          <p:cNvPr id="20" name="Text 18"/>
          <p:cNvSpPr/>
          <p:nvPr/>
        </p:nvSpPr>
        <p:spPr>
          <a:xfrm>
            <a:off x="4773168" y="2267712"/>
            <a:ext cx="3931920" cy="74980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Le Motion Detector déclenche bien les actions programmées : activation caméra, lumière, fenêtre dès qu'un mouvement est capté.</a:t>
            </a:r>
            <a:endParaRPr lang="en-US" sz="1150" dirty="0"/>
          </a:p>
        </p:txBody>
      </p:sp>
      <p:sp>
        <p:nvSpPr>
          <p:cNvPr id="23" name="Text 21"/>
          <p:cNvSpPr/>
          <p:nvPr/>
        </p:nvSpPr>
        <p:spPr>
          <a:xfrm>
            <a:off x="384048" y="3328416"/>
            <a:ext cx="384048" cy="384048"/>
          </a:xfrm>
          <a:prstGeom prst="rect">
            <a:avLst/>
          </a:prstGeom>
          <a:noFill/>
          <a:ln/>
        </p:spPr>
        <p:txBody>
          <a:bodyPr wrap="square" rtlCol="0" anchor="ctr"/>
          <a:lstStyle/>
          <a:p>
            <a:pPr marL="0" indent="0" algn="ctr">
              <a:buNone/>
            </a:pPr>
            <a:endParaRPr lang="en-US" sz="1500" dirty="0"/>
          </a:p>
        </p:txBody>
      </p:sp>
      <p:sp>
        <p:nvSpPr>
          <p:cNvPr id="24" name="Text 22"/>
          <p:cNvSpPr/>
          <p:nvPr/>
        </p:nvSpPr>
        <p:spPr>
          <a:xfrm>
            <a:off x="841248" y="3291840"/>
            <a:ext cx="3474720" cy="292608"/>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Alarme opérationnelle</a:t>
            </a:r>
            <a:endParaRPr lang="en-US" sz="1300" dirty="0"/>
          </a:p>
        </p:txBody>
      </p:sp>
      <p:sp>
        <p:nvSpPr>
          <p:cNvPr id="25" name="Text 23"/>
          <p:cNvSpPr/>
          <p:nvPr/>
        </p:nvSpPr>
        <p:spPr>
          <a:xfrm>
            <a:off x="384048" y="3730752"/>
            <a:ext cx="3931920" cy="74980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Les Sirens Alarme1 et Alarme2 se déclenchent automatiquement au poste de contrôle lors d'une intrusion ou anomalie détectée.</a:t>
            </a:r>
            <a:endParaRPr lang="en-US" sz="1150" dirty="0"/>
          </a:p>
        </p:txBody>
      </p:sp>
      <p:sp>
        <p:nvSpPr>
          <p:cNvPr id="28" name="Text 26"/>
          <p:cNvSpPr/>
          <p:nvPr/>
        </p:nvSpPr>
        <p:spPr>
          <a:xfrm>
            <a:off x="4773168" y="3328416"/>
            <a:ext cx="384048"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9" name="Text 27"/>
          <p:cNvSpPr/>
          <p:nvPr/>
        </p:nvSpPr>
        <p:spPr>
          <a:xfrm>
            <a:off x="5230368" y="3291840"/>
            <a:ext cx="3474720" cy="292608"/>
          </a:xfrm>
          <a:prstGeom prst="rect">
            <a:avLst/>
          </a:prstGeom>
          <a:noFill/>
          <a:ln/>
        </p:spPr>
        <p:txBody>
          <a:bodyPr wrap="square" rtlCol="0" anchor="ctr"/>
          <a:lstStyle/>
          <a:p>
            <a:pPr marL="0" indent="0">
              <a:buNone/>
            </a:pPr>
            <a:r>
              <a:rPr lang="en-US" sz="1300" b="1" dirty="0">
                <a:latin typeface="Calibri" pitchFamily="34" charset="0"/>
                <a:ea typeface="Calibri" pitchFamily="34" charset="-122"/>
                <a:cs typeface="Calibri" pitchFamily="34" charset="-120"/>
              </a:rPr>
              <a:t>Contrôle à distance</a:t>
            </a:r>
            <a:endParaRPr lang="en-US" sz="1300" dirty="0"/>
          </a:p>
        </p:txBody>
      </p:sp>
      <p:sp>
        <p:nvSpPr>
          <p:cNvPr id="30" name="Text 28"/>
          <p:cNvSpPr/>
          <p:nvPr/>
        </p:nvSpPr>
        <p:spPr>
          <a:xfrm>
            <a:off x="4773168" y="3730752"/>
            <a:ext cx="3931920" cy="749808"/>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Le Smartphone du contrôleur peut surveiller et interagir avec tous les équipements de la chambre via WiFi et le serveur IoT.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7" name="Pentagone 26">
            <a:extLst>
              <a:ext uri="{FF2B5EF4-FFF2-40B4-BE49-F238E27FC236}">
                <a16:creationId xmlns:a16="http://schemas.microsoft.com/office/drawing/2014/main" id="{24A59401-F6A4-BEDA-2FB7-7FB3FC54864A}"/>
              </a:ext>
            </a:extLst>
          </p:cNvPr>
          <p:cNvSpPr/>
          <p:nvPr/>
        </p:nvSpPr>
        <p:spPr>
          <a:xfrm>
            <a:off x="3158836" y="0"/>
            <a:ext cx="3771900" cy="1170432"/>
          </a:xfrm>
          <a:prstGeom prst="pent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
        <p:nvSpPr>
          <p:cNvPr id="6" name="Text 4"/>
          <p:cNvSpPr/>
          <p:nvPr/>
        </p:nvSpPr>
        <p:spPr>
          <a:xfrm>
            <a:off x="0" y="91440"/>
            <a:ext cx="9144000" cy="868680"/>
          </a:xfrm>
          <a:prstGeom prst="rect">
            <a:avLst/>
          </a:prstGeom>
          <a:no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Perspectives</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11</a:t>
            </a:r>
            <a:endParaRPr lang="en-US" sz="1000" dirty="0"/>
          </a:p>
        </p:txBody>
      </p:sp>
      <p:sp>
        <p:nvSpPr>
          <p:cNvPr id="10" name="Text 8"/>
          <p:cNvSpPr/>
          <p:nvPr/>
        </p:nvSpPr>
        <p:spPr>
          <a:xfrm>
            <a:off x="457200" y="1280160"/>
            <a:ext cx="8229600" cy="365760"/>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Des améliorations futures permettraient de rendre ce système encore plus efficace et réaliste :</a:t>
            </a:r>
            <a:endParaRPr lang="en-US" sz="1400" dirty="0"/>
          </a:p>
        </p:txBody>
      </p:sp>
      <p:sp>
        <p:nvSpPr>
          <p:cNvPr id="12" name="Shape 10"/>
          <p:cNvSpPr/>
          <p:nvPr/>
        </p:nvSpPr>
        <p:spPr>
          <a:xfrm>
            <a:off x="274320" y="1755648"/>
            <a:ext cx="4160520" cy="347472"/>
          </a:xfrm>
          <a:prstGeom prst="rect">
            <a:avLst/>
          </a:prstGeom>
          <a:solidFill>
            <a:schemeClr val="tx1"/>
          </a:solidFill>
          <a:ln>
            <a:noFill/>
          </a:ln>
        </p:spPr>
        <p:txBody>
          <a:bodyPr/>
          <a:lstStyle/>
          <a:p>
            <a:endParaRPr lang="es-DO"/>
          </a:p>
        </p:txBody>
      </p:sp>
      <p:sp>
        <p:nvSpPr>
          <p:cNvPr id="13" name="Text 11"/>
          <p:cNvSpPr/>
          <p:nvPr/>
        </p:nvSpPr>
        <p:spPr>
          <a:xfrm>
            <a:off x="365760" y="1755648"/>
            <a:ext cx="3986784"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Déploiement physique</a:t>
            </a:r>
            <a:endParaRPr lang="en-US" sz="1300" dirty="0"/>
          </a:p>
        </p:txBody>
      </p:sp>
      <p:sp>
        <p:nvSpPr>
          <p:cNvPr id="14" name="Text 12"/>
          <p:cNvSpPr/>
          <p:nvPr/>
        </p:nvSpPr>
        <p:spPr>
          <a:xfrm>
            <a:off x="384048" y="2139696"/>
            <a:ext cx="393192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Implémenter le système avec de vrais équipements :  caméras IP et capteurs physiques dans une chambre d'hôpital réelle.</a:t>
            </a:r>
            <a:endParaRPr lang="en-US" sz="1200" dirty="0"/>
          </a:p>
        </p:txBody>
      </p:sp>
      <p:sp>
        <p:nvSpPr>
          <p:cNvPr id="16" name="Shape 14"/>
          <p:cNvSpPr/>
          <p:nvPr/>
        </p:nvSpPr>
        <p:spPr>
          <a:xfrm>
            <a:off x="4663440" y="1755648"/>
            <a:ext cx="4160520" cy="347472"/>
          </a:xfrm>
          <a:prstGeom prst="rect">
            <a:avLst/>
          </a:prstGeom>
          <a:solidFill>
            <a:schemeClr val="tx1"/>
          </a:solidFill>
          <a:ln/>
        </p:spPr>
        <p:txBody>
          <a:bodyPr/>
          <a:lstStyle/>
          <a:p>
            <a:endParaRPr lang="es-DO"/>
          </a:p>
        </p:txBody>
      </p:sp>
      <p:sp>
        <p:nvSpPr>
          <p:cNvPr id="17" name="Text 15"/>
          <p:cNvSpPr/>
          <p:nvPr/>
        </p:nvSpPr>
        <p:spPr>
          <a:xfrm>
            <a:off x="4754880" y="1755648"/>
            <a:ext cx="3986784"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Intelligence artificielle</a:t>
            </a:r>
            <a:endParaRPr lang="en-US" sz="1300" dirty="0"/>
          </a:p>
        </p:txBody>
      </p:sp>
      <p:sp>
        <p:nvSpPr>
          <p:cNvPr id="18" name="Text 16"/>
          <p:cNvSpPr/>
          <p:nvPr/>
        </p:nvSpPr>
        <p:spPr>
          <a:xfrm>
            <a:off x="4773168" y="2139696"/>
            <a:ext cx="393192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Intégrer de l'IA pour analyser les comportements des patients, anticiper les chutes ou malaises et alerter proactivement le personnel.</a:t>
            </a:r>
            <a:endParaRPr lang="en-US" sz="1200" dirty="0"/>
          </a:p>
        </p:txBody>
      </p:sp>
      <p:sp>
        <p:nvSpPr>
          <p:cNvPr id="20" name="Shape 18"/>
          <p:cNvSpPr/>
          <p:nvPr/>
        </p:nvSpPr>
        <p:spPr>
          <a:xfrm>
            <a:off x="274320" y="3218688"/>
            <a:ext cx="4160520" cy="347472"/>
          </a:xfrm>
          <a:prstGeom prst="rect">
            <a:avLst/>
          </a:prstGeom>
          <a:solidFill>
            <a:schemeClr val="tx1"/>
          </a:solidFill>
          <a:ln/>
        </p:spPr>
        <p:txBody>
          <a:bodyPr/>
          <a:lstStyle/>
          <a:p>
            <a:endParaRPr lang="es-DO"/>
          </a:p>
        </p:txBody>
      </p:sp>
      <p:sp>
        <p:nvSpPr>
          <p:cNvPr id="21" name="Text 19"/>
          <p:cNvSpPr/>
          <p:nvPr/>
        </p:nvSpPr>
        <p:spPr>
          <a:xfrm>
            <a:off x="365760" y="3218688"/>
            <a:ext cx="3986784"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Application mobile dédiée</a:t>
            </a:r>
            <a:endParaRPr lang="en-US" sz="1300" dirty="0"/>
          </a:p>
        </p:txBody>
      </p:sp>
      <p:sp>
        <p:nvSpPr>
          <p:cNvPr id="22" name="Text 20"/>
          <p:cNvSpPr/>
          <p:nvPr/>
        </p:nvSpPr>
        <p:spPr>
          <a:xfrm>
            <a:off x="384048" y="3602736"/>
            <a:ext cx="393192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Développer une app mobile pour le personnel médical permettant de voir en temps réel la chambre et d'agir sur les équipements à distance.</a:t>
            </a:r>
            <a:endParaRPr lang="en-US" sz="1200" dirty="0"/>
          </a:p>
        </p:txBody>
      </p:sp>
      <p:sp>
        <p:nvSpPr>
          <p:cNvPr id="24" name="Shape 22"/>
          <p:cNvSpPr/>
          <p:nvPr/>
        </p:nvSpPr>
        <p:spPr>
          <a:xfrm>
            <a:off x="4668012" y="3218688"/>
            <a:ext cx="4160520" cy="347472"/>
          </a:xfrm>
          <a:prstGeom prst="rect">
            <a:avLst/>
          </a:prstGeom>
          <a:solidFill>
            <a:srgbClr val="FFC000"/>
          </a:solidFill>
          <a:ln/>
        </p:spPr>
        <p:txBody>
          <a:bodyPr/>
          <a:lstStyle/>
          <a:p>
            <a:endParaRPr lang="es-DO"/>
          </a:p>
        </p:txBody>
      </p:sp>
      <p:sp>
        <p:nvSpPr>
          <p:cNvPr id="25" name="Text 23"/>
          <p:cNvSpPr/>
          <p:nvPr/>
        </p:nvSpPr>
        <p:spPr>
          <a:xfrm>
            <a:off x="4663440" y="3218688"/>
            <a:ext cx="4206240" cy="347472"/>
          </a:xfrm>
          <a:prstGeom prst="rect">
            <a:avLst/>
          </a:prstGeom>
          <a:solidFill>
            <a:schemeClr val="tx1"/>
          </a:solid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Cybersécurité IoT</a:t>
            </a:r>
            <a:endParaRPr lang="en-US" sz="1300" dirty="0"/>
          </a:p>
        </p:txBody>
      </p:sp>
      <p:sp>
        <p:nvSpPr>
          <p:cNvPr id="26" name="Text 24"/>
          <p:cNvSpPr/>
          <p:nvPr/>
        </p:nvSpPr>
        <p:spPr>
          <a:xfrm>
            <a:off x="4773168" y="3602736"/>
            <a:ext cx="3931920"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Renforcer la sécurité avec chiffrement TLS, authentification des dispositifs IoT et surveillance des accès réseau pour protéger les données patients.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F2C4B0"/>
          </a:solidFill>
          <a:ln/>
        </p:spPr>
        <p:txBody>
          <a:bodyPr/>
          <a:lstStyle/>
          <a:p>
            <a:endParaRPr lang="es-DO"/>
          </a:p>
        </p:txBody>
      </p:sp>
      <p:sp>
        <p:nvSpPr>
          <p:cNvPr id="3" name="Shape 1"/>
          <p:cNvSpPr/>
          <p:nvPr/>
        </p:nvSpPr>
        <p:spPr>
          <a:xfrm>
            <a:off x="0" y="0"/>
            <a:ext cx="9144000" cy="73152"/>
          </a:xfrm>
          <a:prstGeom prst="rect">
            <a:avLst/>
          </a:prstGeom>
          <a:solidFill>
            <a:schemeClr val="accent1">
              <a:lumMod val="75000"/>
            </a:schemeClr>
          </a:solidFill>
          <a:ln/>
        </p:spPr>
        <p:txBody>
          <a:bodyPr/>
          <a:lstStyle/>
          <a:p>
            <a:endParaRPr lang="es-DO"/>
          </a:p>
        </p:txBody>
      </p:sp>
      <p:sp>
        <p:nvSpPr>
          <p:cNvPr id="4" name="Shape 2"/>
          <p:cNvSpPr/>
          <p:nvPr/>
        </p:nvSpPr>
        <p:spPr>
          <a:xfrm>
            <a:off x="0" y="1005840"/>
            <a:ext cx="9144000" cy="45720"/>
          </a:xfrm>
          <a:prstGeom prst="rect">
            <a:avLst/>
          </a:prstGeom>
          <a:solidFill>
            <a:srgbClr val="5A8FC0"/>
          </a:solidFill>
          <a:ln/>
        </p:spPr>
        <p:txBody>
          <a:bodyPr/>
          <a:lstStyle/>
          <a:p>
            <a:endParaRPr lang="es-DO"/>
          </a:p>
        </p:txBody>
      </p:sp>
      <p:sp>
        <p:nvSpPr>
          <p:cNvPr id="6" name="Text 4"/>
          <p:cNvSpPr/>
          <p:nvPr/>
        </p:nvSpPr>
        <p:spPr>
          <a:xfrm>
            <a:off x="0" y="91440"/>
            <a:ext cx="9144000" cy="868680"/>
          </a:xfrm>
          <a:prstGeom prst="rect">
            <a:avLst/>
          </a:prstGeom>
          <a:solidFill>
            <a:schemeClr val="accent1">
              <a:lumMod val="75000"/>
            </a:schemeClr>
          </a:solidFill>
          <a:ln/>
        </p:spPr>
        <p:txBody>
          <a:bodyPr wrap="square" lIns="0" tIns="0" rIns="0" bIns="0" rtlCol="0" anchor="ctr"/>
          <a:lstStyle/>
          <a:p>
            <a:pPr marL="0" indent="0" algn="ctr">
              <a:buNone/>
            </a:pPr>
            <a:r>
              <a:rPr lang="en-US" sz="2800" b="1" dirty="0">
                <a:solidFill>
                  <a:srgbClr val="1A1A1A"/>
                </a:solidFill>
                <a:latin typeface="Calibri" pitchFamily="34" charset="0"/>
                <a:ea typeface="Calibri" pitchFamily="34" charset="-122"/>
                <a:cs typeface="Calibri" pitchFamily="34" charset="-120"/>
              </a:rPr>
              <a:t>Conclusion</a:t>
            </a:r>
            <a:endParaRPr lang="en-US" sz="2800" dirty="0"/>
          </a:p>
        </p:txBody>
      </p:sp>
      <p:sp>
        <p:nvSpPr>
          <p:cNvPr id="8" name="Text 6"/>
          <p:cNvSpPr/>
          <p:nvPr/>
        </p:nvSpPr>
        <p:spPr>
          <a:xfrm>
            <a:off x="182880" y="4818888"/>
            <a:ext cx="1828800" cy="301752"/>
          </a:xfrm>
          <a:prstGeom prst="rect">
            <a:avLst/>
          </a:prstGeom>
          <a:noFill/>
          <a:ln/>
        </p:spPr>
        <p:txBody>
          <a:bodyPr wrap="square" rtlCol="0" anchor="ctr"/>
          <a:lstStyle/>
          <a:p>
            <a:pPr marL="0" indent="0" algn="l">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9" name="Text 7"/>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12</a:t>
            </a:r>
            <a:endParaRPr lang="en-US" sz="1000" dirty="0"/>
          </a:p>
        </p:txBody>
      </p:sp>
      <p:sp>
        <p:nvSpPr>
          <p:cNvPr id="10" name="Text 8"/>
          <p:cNvSpPr/>
          <p:nvPr/>
        </p:nvSpPr>
        <p:spPr>
          <a:xfrm>
            <a:off x="457200" y="1298448"/>
            <a:ext cx="8229600" cy="822960"/>
          </a:xfrm>
          <a:prstGeom prst="rect">
            <a:avLst/>
          </a:prstGeom>
          <a:noFill/>
          <a:ln/>
        </p:spPr>
        <p:txBody>
          <a:bodyPr wrap="square" rtlCol="0" anchor="ctr"/>
          <a:lstStyle/>
          <a:p>
            <a:pPr marL="0" indent="0" algn="just">
              <a:lnSpc>
                <a:spcPct val="130000"/>
              </a:lnSpc>
              <a:buNone/>
            </a:pPr>
            <a:r>
              <a:rPr lang="en-US" sz="1400" dirty="0">
                <a:solidFill>
                  <a:srgbClr val="1A1A1A"/>
                </a:solidFill>
                <a:latin typeface="Calibri" pitchFamily="34" charset="0"/>
                <a:ea typeface="Calibri" pitchFamily="34" charset="-122"/>
                <a:cs typeface="Calibri" pitchFamily="34" charset="-120"/>
              </a:rPr>
              <a:t>Ce </a:t>
            </a:r>
            <a:r>
              <a:rPr lang="en-US" sz="1400" dirty="0" err="1">
                <a:solidFill>
                  <a:srgbClr val="1A1A1A"/>
                </a:solidFill>
                <a:latin typeface="Calibri" pitchFamily="34" charset="0"/>
                <a:ea typeface="Calibri" pitchFamily="34" charset="-122"/>
                <a:cs typeface="Calibri" pitchFamily="34" charset="-120"/>
              </a:rPr>
              <a:t>projet</a:t>
            </a:r>
            <a:r>
              <a:rPr lang="en-US" sz="1400" dirty="0">
                <a:solidFill>
                  <a:srgbClr val="1A1A1A"/>
                </a:solidFill>
                <a:latin typeface="Calibri" pitchFamily="34" charset="0"/>
                <a:ea typeface="Calibri" pitchFamily="34" charset="-122"/>
                <a:cs typeface="Calibri" pitchFamily="34" charset="-120"/>
              </a:rPr>
              <a:t>  Hospital IoT a démontré comment la technologie IoT peut transformer la prise en charge des patients handicapés en milieu hospitalier. En combinant des capteurs intelligents, des actionneurs automatiques et un réseau IP structuré, nous avons simulé un système capable de :</a:t>
            </a:r>
            <a:endParaRPr lang="en-US" sz="1400" dirty="0"/>
          </a:p>
          <a:p>
            <a:pPr marL="0" indent="0" algn="just">
              <a:lnSpc>
                <a:spcPct val="130000"/>
              </a:lnSpc>
              <a:buNone/>
            </a:pPr>
            <a:endParaRPr lang="en-US" sz="1400" dirty="0"/>
          </a:p>
        </p:txBody>
      </p:sp>
      <p:sp>
        <p:nvSpPr>
          <p:cNvPr id="12" name="Text 10"/>
          <p:cNvSpPr/>
          <p:nvPr/>
        </p:nvSpPr>
        <p:spPr>
          <a:xfrm>
            <a:off x="530352" y="2267712"/>
            <a:ext cx="8138160" cy="384048"/>
          </a:xfrm>
          <a:prstGeom prst="rect">
            <a:avLst/>
          </a:prstGeom>
          <a:noFill/>
          <a:ln/>
        </p:spPr>
        <p:txBody>
          <a:bodyPr wrap="square" rtlCol="0" anchor="ctr"/>
          <a:lstStyle/>
          <a:p>
            <a:pPr marL="0" indent="0">
              <a:buNone/>
            </a:pPr>
            <a:r>
              <a:rPr lang="en-US" sz="1350" dirty="0">
                <a:solidFill>
                  <a:srgbClr val="1A1A1A"/>
                </a:solidFill>
                <a:latin typeface="Calibri" pitchFamily="34" charset="0"/>
                <a:ea typeface="Calibri" pitchFamily="34" charset="-122"/>
                <a:cs typeface="Calibri" pitchFamily="34" charset="-120"/>
              </a:rPr>
              <a:t>Détecter automatiquement les mouvements dans la chambre du patient</a:t>
            </a:r>
            <a:endParaRPr lang="en-US" sz="1350" dirty="0"/>
          </a:p>
        </p:txBody>
      </p:sp>
      <p:sp>
        <p:nvSpPr>
          <p:cNvPr id="14" name="Text 12"/>
          <p:cNvSpPr/>
          <p:nvPr/>
        </p:nvSpPr>
        <p:spPr>
          <a:xfrm>
            <a:off x="530352" y="2798064"/>
            <a:ext cx="8138160" cy="384048"/>
          </a:xfrm>
          <a:prstGeom prst="rect">
            <a:avLst/>
          </a:prstGeom>
          <a:noFill/>
          <a:ln/>
        </p:spPr>
        <p:txBody>
          <a:bodyPr wrap="square" rtlCol="0" anchor="ctr"/>
          <a:lstStyle/>
          <a:p>
            <a:pPr marL="0" indent="0">
              <a:buNone/>
            </a:pPr>
            <a:r>
              <a:rPr lang="en-US" sz="1350" dirty="0">
                <a:solidFill>
                  <a:srgbClr val="1A1A1A"/>
                </a:solidFill>
                <a:latin typeface="Calibri" pitchFamily="34" charset="0"/>
                <a:ea typeface="Calibri" pitchFamily="34" charset="-122"/>
                <a:cs typeface="Calibri" pitchFamily="34" charset="-120"/>
              </a:rPr>
              <a:t>Déclencher une alarme au poste de contrôle en cas de danger ou d'intrusion</a:t>
            </a:r>
            <a:endParaRPr lang="en-US" sz="1350" dirty="0"/>
          </a:p>
        </p:txBody>
      </p:sp>
      <p:sp>
        <p:nvSpPr>
          <p:cNvPr id="16" name="Text 14"/>
          <p:cNvSpPr/>
          <p:nvPr/>
        </p:nvSpPr>
        <p:spPr>
          <a:xfrm>
            <a:off x="530352" y="3328416"/>
            <a:ext cx="8138160" cy="384048"/>
          </a:xfrm>
          <a:prstGeom prst="rect">
            <a:avLst/>
          </a:prstGeom>
          <a:noFill/>
          <a:ln/>
        </p:spPr>
        <p:txBody>
          <a:bodyPr wrap="square" rtlCol="0" anchor="ctr"/>
          <a:lstStyle/>
          <a:p>
            <a:pPr marL="0" indent="0">
              <a:buNone/>
            </a:pPr>
            <a:r>
              <a:rPr lang="en-US" sz="1350" dirty="0">
                <a:solidFill>
                  <a:srgbClr val="1A1A1A"/>
                </a:solidFill>
                <a:latin typeface="Calibri" pitchFamily="34" charset="0"/>
                <a:ea typeface="Calibri" pitchFamily="34" charset="-122"/>
                <a:cs typeface="Calibri" pitchFamily="34" charset="-120"/>
              </a:rPr>
              <a:t>Activer caméra, lumière et fenêtre sans intervention humaine</a:t>
            </a:r>
            <a:endParaRPr lang="en-US" sz="1350" dirty="0"/>
          </a:p>
        </p:txBody>
      </p:sp>
      <p:sp>
        <p:nvSpPr>
          <p:cNvPr id="18" name="Text 16"/>
          <p:cNvSpPr/>
          <p:nvPr/>
        </p:nvSpPr>
        <p:spPr>
          <a:xfrm>
            <a:off x="530352" y="3858768"/>
            <a:ext cx="8138160" cy="384048"/>
          </a:xfrm>
          <a:prstGeom prst="rect">
            <a:avLst/>
          </a:prstGeom>
          <a:noFill/>
          <a:ln/>
        </p:spPr>
        <p:txBody>
          <a:bodyPr wrap="square" rtlCol="0" anchor="ctr"/>
          <a:lstStyle/>
          <a:p>
            <a:pPr marL="0" indent="0">
              <a:buNone/>
            </a:pPr>
            <a:r>
              <a:rPr lang="en-US" sz="1350" dirty="0">
                <a:solidFill>
                  <a:srgbClr val="1A1A1A"/>
                </a:solidFill>
                <a:latin typeface="Calibri" pitchFamily="34" charset="0"/>
                <a:ea typeface="Calibri" pitchFamily="34" charset="-122"/>
                <a:cs typeface="Calibri" pitchFamily="34" charset="-120"/>
              </a:rPr>
              <a:t>Permettre au contrôleur de superviser et agir à distance via smartphone</a:t>
            </a:r>
            <a:endParaRPr lang="en-US" sz="1350" dirty="0"/>
          </a:p>
        </p:txBody>
      </p:sp>
      <p:sp>
        <p:nvSpPr>
          <p:cNvPr id="21" name="Rectangle 20">
            <a:extLst>
              <a:ext uri="{FF2B5EF4-FFF2-40B4-BE49-F238E27FC236}">
                <a16:creationId xmlns:a16="http://schemas.microsoft.com/office/drawing/2014/main" id="{A75D7F5D-93D6-7086-CA4A-226870DCD32F}"/>
              </a:ext>
            </a:extLst>
          </p:cNvPr>
          <p:cNvSpPr/>
          <p:nvPr/>
        </p:nvSpPr>
        <p:spPr>
          <a:xfrm>
            <a:off x="8853054" y="960120"/>
            <a:ext cx="290945" cy="40919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AF0EC"/>
        </a:solidFill>
        <a:effectLst/>
      </p:bgPr>
    </p:bg>
    <p:spTree>
      <p:nvGrpSpPr>
        <p:cNvPr id="1" name=""/>
        <p:cNvGrpSpPr/>
        <p:nvPr/>
      </p:nvGrpSpPr>
      <p:grpSpPr>
        <a:xfrm>
          <a:off x="0" y="0"/>
          <a:ext cx="0" cy="0"/>
          <a:chOff x="0" y="0"/>
          <a:chExt cx="0" cy="0"/>
        </a:xfrm>
      </p:grpSpPr>
      <p:sp>
        <p:nvSpPr>
          <p:cNvPr id="5" name="Text 3"/>
          <p:cNvSpPr/>
          <p:nvPr/>
        </p:nvSpPr>
        <p:spPr>
          <a:xfrm>
            <a:off x="914400" y="2011680"/>
            <a:ext cx="7315200" cy="822960"/>
          </a:xfrm>
          <a:prstGeom prst="rect">
            <a:avLst/>
          </a:prstGeom>
          <a:noFill/>
          <a:ln/>
        </p:spPr>
        <p:txBody>
          <a:bodyPr wrap="square" rtlCol="0" anchor="ctr"/>
          <a:lstStyle/>
          <a:p>
            <a:pPr marL="0" indent="0" algn="ctr">
              <a:buNone/>
            </a:pPr>
            <a:r>
              <a:rPr lang="en-US" sz="3400" dirty="0">
                <a:solidFill>
                  <a:srgbClr val="1A1A1A"/>
                </a:solidFill>
                <a:latin typeface="Calibri" pitchFamily="34" charset="0"/>
                <a:ea typeface="Calibri" pitchFamily="34" charset="-122"/>
                <a:cs typeface="Calibri" pitchFamily="34" charset="-120"/>
              </a:rPr>
              <a:t>Merci pour votre attention !</a:t>
            </a:r>
            <a:endParaRPr lang="en-US" sz="3400" dirty="0"/>
          </a:p>
        </p:txBody>
      </p:sp>
      <p:sp>
        <p:nvSpPr>
          <p:cNvPr id="8" name="Text 6"/>
          <p:cNvSpPr/>
          <p:nvPr/>
        </p:nvSpPr>
        <p:spPr>
          <a:xfrm>
            <a:off x="914400" y="3931920"/>
            <a:ext cx="7315200" cy="365760"/>
          </a:xfrm>
          <a:prstGeom prst="rect">
            <a:avLst/>
          </a:prstGeom>
          <a:noFill/>
          <a:ln/>
        </p:spPr>
        <p:txBody>
          <a:bodyPr wrap="square" rtlCol="0" anchor="ctr"/>
          <a:lstStyle/>
          <a:p>
            <a:pPr marL="0" indent="0" algn="ctr">
              <a:buNone/>
            </a:pPr>
            <a:endParaRPr lang="en-US" sz="1200" dirty="0"/>
          </a:p>
        </p:txBody>
      </p:sp>
      <p:sp>
        <p:nvSpPr>
          <p:cNvPr id="10" name="Text 8"/>
          <p:cNvSpPr/>
          <p:nvPr/>
        </p:nvSpPr>
        <p:spPr>
          <a:xfrm>
            <a:off x="182880" y="4818888"/>
            <a:ext cx="1828800" cy="301752"/>
          </a:xfrm>
          <a:prstGeom prst="rect">
            <a:avLst/>
          </a:prstGeom>
          <a:noFill/>
          <a:ln/>
        </p:spPr>
        <p:txBody>
          <a:bodyPr wrap="square" rtlCol="0" anchor="ctr"/>
          <a:lstStyle/>
          <a:p>
            <a:pPr marL="0" indent="0">
              <a:buNone/>
            </a:pPr>
            <a:r>
              <a:rPr lang="en-US" sz="1000" dirty="0">
                <a:solidFill>
                  <a:srgbClr val="FFFFFF"/>
                </a:solidFill>
                <a:latin typeface="Calibri" pitchFamily="34" charset="0"/>
                <a:ea typeface="Calibri" pitchFamily="34" charset="-122"/>
                <a:cs typeface="Calibri" pitchFamily="34" charset="-120"/>
              </a:rPr>
              <a:t>4/20/2026</a:t>
            </a:r>
            <a:endParaRPr lang="en-US" sz="1000" dirty="0"/>
          </a:p>
        </p:txBody>
      </p:sp>
      <p:sp>
        <p:nvSpPr>
          <p:cNvPr id="11" name="Text 9"/>
          <p:cNvSpPr/>
          <p:nvPr/>
        </p:nvSpPr>
        <p:spPr>
          <a:xfrm>
            <a:off x="7132320" y="4818888"/>
            <a:ext cx="1828800" cy="301752"/>
          </a:xfrm>
          <a:prstGeom prst="rect">
            <a:avLst/>
          </a:prstGeom>
          <a:noFill/>
          <a:ln/>
        </p:spPr>
        <p:txBody>
          <a:bodyPr wrap="square" rtlCol="0" anchor="ctr"/>
          <a:lstStyle/>
          <a:p>
            <a:pPr marL="0" indent="0" algn="r">
              <a:buNone/>
            </a:pPr>
            <a:r>
              <a:rPr lang="en-US" sz="1000" dirty="0">
                <a:solidFill>
                  <a:srgbClr val="FFFFFF"/>
                </a:solidFill>
                <a:latin typeface="Calibri" pitchFamily="34" charset="0"/>
                <a:ea typeface="Calibri" pitchFamily="34" charset="-122"/>
                <a:cs typeface="Calibri" pitchFamily="34" charset="-120"/>
              </a:rPr>
              <a:t>13</a:t>
            </a:r>
            <a:endParaRPr lang="en-US" sz="1000" dirty="0"/>
          </a:p>
        </p:txBody>
      </p:sp>
      <p:sp>
        <p:nvSpPr>
          <p:cNvPr id="12" name="Rectangle 11">
            <a:extLst>
              <a:ext uri="{FF2B5EF4-FFF2-40B4-BE49-F238E27FC236}">
                <a16:creationId xmlns:a16="http://schemas.microsoft.com/office/drawing/2014/main" id="{B54DAD16-E7EE-7E85-48FE-D3333FFABE06}"/>
              </a:ext>
            </a:extLst>
          </p:cNvPr>
          <p:cNvSpPr/>
          <p:nvPr/>
        </p:nvSpPr>
        <p:spPr>
          <a:xfrm>
            <a:off x="1" y="0"/>
            <a:ext cx="182880" cy="51206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DO"/>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1050</Words>
  <Application>Microsoft Office PowerPoint</Application>
  <PresentationFormat>Affichage à l'écran (16:9)</PresentationFormat>
  <Paragraphs>168</Paragraphs>
  <Slides>12</Slides>
  <Notes>12</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Hospital IoT</dc:title>
  <dc:subject>PptxGenJS Presentation</dc:subject>
  <dc:creator>PptxGenJS</dc:creator>
  <cp:lastModifiedBy>evenaleamande1@gmail.com</cp:lastModifiedBy>
  <cp:revision>2</cp:revision>
  <dcterms:created xsi:type="dcterms:W3CDTF">2026-05-23T00:43:38Z</dcterms:created>
  <dcterms:modified xsi:type="dcterms:W3CDTF">2026-05-23T03:14:45Z</dcterms:modified>
</cp:coreProperties>
</file>